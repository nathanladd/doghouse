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476" r:id="rId2"/>
    <p:sldId id="475" r:id="rId3"/>
    <p:sldId id="448" r:id="rId4"/>
    <p:sldId id="477" r:id="rId5"/>
    <p:sldId id="494" r:id="rId6"/>
    <p:sldId id="479" r:id="rId7"/>
    <p:sldId id="480" r:id="rId8"/>
    <p:sldId id="481" r:id="rId9"/>
    <p:sldId id="482" r:id="rId10"/>
    <p:sldId id="483" r:id="rId11"/>
    <p:sldId id="484" r:id="rId12"/>
    <p:sldId id="485" r:id="rId13"/>
    <p:sldId id="487" r:id="rId14"/>
    <p:sldId id="488" r:id="rId15"/>
    <p:sldId id="486" r:id="rId16"/>
    <p:sldId id="49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1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867" autoAdjust="0"/>
  </p:normalViewPr>
  <p:slideViewPr>
    <p:cSldViewPr>
      <p:cViewPr>
        <p:scale>
          <a:sx n="70" d="100"/>
          <a:sy n="70" d="100"/>
        </p:scale>
        <p:origin x="-138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F17EEF-E07D-417B-9844-E5020ABA3B4C}" type="datetimeFigureOut">
              <a:rPr lang="en-US" smtClean="0"/>
              <a:pPr/>
              <a:t>7/11/2018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0DA2CF-E459-4D24-AF27-AB276913243E}" type="slidenum">
              <a:rPr lang="en-US" smtClean="0"/>
              <a:pPr/>
              <a:t>‹#›</a:t>
            </a:fld>
            <a:endParaRPr lang="en-US"/>
          </a:p>
        </p:txBody>
      </p:sp>
    </p:spTree>
    <p:extLst>
      <p:ext uri="{BB962C8B-B14F-4D97-AF65-F5344CB8AC3E}">
        <p14:creationId xmlns:p14="http://schemas.microsoft.com/office/powerpoint/2010/main" val="1472750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p:cNvSpPr>
            <a:spLocks noChangeArrowheads="1"/>
          </p:cNvSpPr>
          <p:nvPr/>
        </p:nvSpPr>
        <p:spPr bwMode="auto">
          <a:xfrm>
            <a:off x="0" y="0"/>
            <a:ext cx="533400" cy="6858000"/>
          </a:xfrm>
          <a:prstGeom prst="rect">
            <a:avLst/>
          </a:prstGeom>
          <a:solidFill>
            <a:srgbClr val="FF3600"/>
          </a:solidFill>
          <a:ln w="9525">
            <a:noFill/>
            <a:miter lim="800000"/>
            <a:headEnd type="none" w="sm" len="sm"/>
            <a:tailEnd type="none" w="sm" len="sm"/>
          </a:ln>
          <a:effectLst/>
        </p:spPr>
        <p:txBody>
          <a:bodyPr wrap="none" anchor="ctr"/>
          <a:lstStyle/>
          <a:p>
            <a:pPr>
              <a:defRPr/>
            </a:pPr>
            <a:endParaRPr lang="en-US">
              <a:latin typeface="Arial" charset="0"/>
            </a:endParaRPr>
          </a:p>
        </p:txBody>
      </p:sp>
      <p:sp>
        <p:nvSpPr>
          <p:cNvPr id="5" name="Line 6"/>
          <p:cNvSpPr>
            <a:spLocks noChangeShapeType="1"/>
          </p:cNvSpPr>
          <p:nvPr/>
        </p:nvSpPr>
        <p:spPr bwMode="auto">
          <a:xfrm>
            <a:off x="0" y="1143000"/>
            <a:ext cx="9144000" cy="0"/>
          </a:xfrm>
          <a:prstGeom prst="line">
            <a:avLst/>
          </a:prstGeom>
          <a:noFill/>
          <a:ln w="92075">
            <a:solidFill>
              <a:schemeClr val="tx1"/>
            </a:solidFill>
            <a:round/>
            <a:headEnd/>
            <a:tailEnd/>
          </a:ln>
          <a:effectLst/>
        </p:spPr>
        <p:txBody>
          <a:bodyPr wrap="none" anchor="ctr"/>
          <a:lstStyle/>
          <a:p>
            <a:pPr>
              <a:defRPr/>
            </a:pPr>
            <a:endParaRPr lang="en-US">
              <a:latin typeface="Arial" charset="0"/>
            </a:endParaRPr>
          </a:p>
        </p:txBody>
      </p:sp>
      <p:pic>
        <p:nvPicPr>
          <p:cNvPr id="6" name="Picture 13" descr="bobcat_logo_blk"/>
          <p:cNvPicPr>
            <a:picLocks noChangeAspect="1" noChangeArrowheads="1"/>
          </p:cNvPicPr>
          <p:nvPr/>
        </p:nvPicPr>
        <p:blipFill>
          <a:blip r:embed="rId2" cstate="print"/>
          <a:srcRect/>
          <a:stretch>
            <a:fillRect/>
          </a:stretch>
        </p:blipFill>
        <p:spPr bwMode="auto">
          <a:xfrm>
            <a:off x="517634" y="0"/>
            <a:ext cx="3143250" cy="1114425"/>
          </a:xfrm>
          <a:prstGeom prst="rect">
            <a:avLst/>
          </a:prstGeom>
          <a:noFill/>
          <a:ln w="9525">
            <a:noFill/>
            <a:miter lim="800000"/>
            <a:headEnd/>
            <a:tailEnd/>
          </a:ln>
        </p:spPr>
      </p:pic>
      <p:sp>
        <p:nvSpPr>
          <p:cNvPr id="1752075" name="Rectangle 11"/>
          <p:cNvSpPr>
            <a:spLocks noGrp="1" noChangeArrowheads="1"/>
          </p:cNvSpPr>
          <p:nvPr>
            <p:ph type="ctrTitle" sz="quarter"/>
          </p:nvPr>
        </p:nvSpPr>
        <p:spPr>
          <a:xfrm>
            <a:off x="685800" y="2130425"/>
            <a:ext cx="7772400" cy="1470025"/>
          </a:xfrm>
          <a:effectLst/>
        </p:spPr>
        <p:txBody>
          <a:bodyPr anchor="ctr"/>
          <a:lstStyle>
            <a:lvl1pPr algn="ctr">
              <a:defRPr sz="4000"/>
            </a:lvl1pPr>
          </a:lstStyle>
          <a:p>
            <a:r>
              <a:rPr lang="en-US" smtClean="0"/>
              <a:t>Click to edit Master title style</a:t>
            </a:r>
            <a:endParaRPr lang="en-US"/>
          </a:p>
        </p:txBody>
      </p:sp>
      <p:sp>
        <p:nvSpPr>
          <p:cNvPr id="1752076" name="Rectangle 12"/>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smtClean="0"/>
              <a:t>Click to edit Master subtitle style</a:t>
            </a:r>
            <a:endParaRPr lang="en-US"/>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990600" y="1043153"/>
            <a:ext cx="81534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152400"/>
            <a:ext cx="2038350" cy="6172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152400"/>
            <a:ext cx="5962650"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8387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838700" y="1295400"/>
            <a:ext cx="40005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838700" y="3886200"/>
            <a:ext cx="40005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754188" y="512763"/>
            <a:ext cx="7083425" cy="1320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296988" y="2019300"/>
            <a:ext cx="3579812" cy="22050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029200" y="2019300"/>
            <a:ext cx="3579813" cy="2205038"/>
          </a:xfrm>
        </p:spPr>
        <p:txBody>
          <a:bodyPr/>
          <a:lstStyle/>
          <a:p>
            <a:pPr lvl="0"/>
            <a:r>
              <a:rPr lang="en-US" noProof="0" smtClean="0"/>
              <a:t>Click icon to add clip art</a:t>
            </a:r>
            <a:endParaRPr lang="en-U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754188" y="512763"/>
            <a:ext cx="7083425" cy="13208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296988" y="2019300"/>
            <a:ext cx="3579812" cy="2205038"/>
          </a:xfrm>
        </p:spPr>
        <p:txBody>
          <a:bodyPr/>
          <a:lstStyle/>
          <a:p>
            <a:pPr lvl="0"/>
            <a:r>
              <a:rPr lang="en-US" noProof="0" smtClean="0"/>
              <a:t>Click icon to add clip art</a:t>
            </a:r>
            <a:endParaRPr lang="en-US" noProof="0"/>
          </a:p>
        </p:txBody>
      </p:sp>
      <p:sp>
        <p:nvSpPr>
          <p:cNvPr id="4" name="Text Placeholder 3"/>
          <p:cNvSpPr>
            <a:spLocks noGrp="1"/>
          </p:cNvSpPr>
          <p:nvPr>
            <p:ph type="body" sz="half" idx="2"/>
          </p:nvPr>
        </p:nvSpPr>
        <p:spPr>
          <a:xfrm>
            <a:off x="5029200" y="2019300"/>
            <a:ext cx="3579813" cy="22050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57200" y="3619500"/>
            <a:ext cx="8229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343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r>
              <a:rPr lang="en-US" noProof="0" smtClean="0"/>
              <a:t>Click icon to add table</a:t>
            </a:r>
            <a:endParaRPr lang="en-US" noProof="0"/>
          </a:p>
        </p:txBody>
      </p:sp>
      <p:sp>
        <p:nvSpPr>
          <p:cNvPr id="4" name="Slide Number Placeholder 3"/>
          <p:cNvSpPr>
            <a:spLocks noGrp="1"/>
          </p:cNvSpPr>
          <p:nvPr>
            <p:ph type="sldNum" sz="quarter" idx="10"/>
          </p:nvPr>
        </p:nvSpPr>
        <p:spPr>
          <a:xfrm>
            <a:off x="6553200" y="61722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8229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3938588"/>
            <a:ext cx="8229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7251" name="Rectangle 3"/>
          <p:cNvSpPr>
            <a:spLocks noGrp="1" noChangeArrowheads="1"/>
          </p:cNvSpPr>
          <p:nvPr>
            <p:ph type="title"/>
          </p:nvPr>
        </p:nvSpPr>
        <p:spPr bwMode="auto">
          <a:xfrm>
            <a:off x="700088" y="152400"/>
            <a:ext cx="8118475" cy="838200"/>
          </a:xfrm>
          <a:prstGeom prst="rect">
            <a:avLst/>
          </a:prstGeom>
          <a:noFill/>
          <a:ln w="9525">
            <a:noFill/>
            <a:miter lim="800000"/>
            <a:headEnd/>
            <a:tailEnd/>
          </a:ln>
          <a:effectLst>
            <a:outerShdw dist="12700" dir="5400000" algn="ctr" rotWithShape="0">
              <a:schemeClr val="tx1"/>
            </a:outerShdw>
          </a:effec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29699" name="Rectangle 4"/>
          <p:cNvSpPr>
            <a:spLocks noGrp="1" noChangeArrowheads="1"/>
          </p:cNvSpPr>
          <p:nvPr>
            <p:ph type="body" idx="1"/>
          </p:nvPr>
        </p:nvSpPr>
        <p:spPr bwMode="auto">
          <a:xfrm>
            <a:off x="685800" y="1295400"/>
            <a:ext cx="81534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717254" name="Rectangle 6"/>
          <p:cNvSpPr>
            <a:spLocks noChangeArrowheads="1"/>
          </p:cNvSpPr>
          <p:nvPr/>
        </p:nvSpPr>
        <p:spPr bwMode="auto">
          <a:xfrm>
            <a:off x="0" y="0"/>
            <a:ext cx="533400" cy="6858000"/>
          </a:xfrm>
          <a:prstGeom prst="rect">
            <a:avLst/>
          </a:prstGeom>
          <a:solidFill>
            <a:srgbClr val="FF3600"/>
          </a:solidFill>
          <a:ln w="9525">
            <a:noFill/>
            <a:miter lim="800000"/>
            <a:headEnd type="none" w="sm" len="sm"/>
            <a:tailEnd type="none" w="sm" len="sm"/>
          </a:ln>
          <a:effectLst/>
        </p:spPr>
        <p:txBody>
          <a:bodyPr wrap="none" anchor="ctr"/>
          <a:lstStyle/>
          <a:p>
            <a:pPr>
              <a:defRPr/>
            </a:pPr>
            <a:endParaRPr lang="en-US">
              <a:latin typeface="Arial" charset="0"/>
            </a:endParaRPr>
          </a:p>
        </p:txBody>
      </p:sp>
      <p:sp>
        <p:nvSpPr>
          <p:cNvPr id="1717255" name="Line 7"/>
          <p:cNvSpPr>
            <a:spLocks noChangeShapeType="1"/>
          </p:cNvSpPr>
          <p:nvPr/>
        </p:nvSpPr>
        <p:spPr bwMode="auto">
          <a:xfrm>
            <a:off x="0" y="1143000"/>
            <a:ext cx="9144000" cy="0"/>
          </a:xfrm>
          <a:prstGeom prst="line">
            <a:avLst/>
          </a:prstGeom>
          <a:noFill/>
          <a:ln w="92075">
            <a:solidFill>
              <a:schemeClr val="tx1"/>
            </a:solidFill>
            <a:round/>
            <a:headEnd/>
            <a:tailEnd/>
          </a:ln>
          <a:effectLst/>
        </p:spPr>
        <p:txBody>
          <a:bodyPr wrap="none" anchor="ctr"/>
          <a:lstStyle/>
          <a:p>
            <a:pPr>
              <a:defRPr/>
            </a:pPr>
            <a:endParaRPr lang="en-US">
              <a:latin typeface="Arial" charset="0"/>
            </a:endParaRPr>
          </a:p>
        </p:txBody>
      </p:sp>
      <p:pic>
        <p:nvPicPr>
          <p:cNvPr id="29702" name="Picture 10" descr="bobcat_logo_blk"/>
          <p:cNvPicPr>
            <a:picLocks noChangeAspect="1" noChangeArrowheads="1"/>
          </p:cNvPicPr>
          <p:nvPr/>
        </p:nvPicPr>
        <p:blipFill>
          <a:blip r:embed="rId25" cstate="print"/>
          <a:srcRect/>
          <a:stretch>
            <a:fillRect/>
          </a:stretch>
        </p:blipFill>
        <p:spPr bwMode="auto">
          <a:xfrm>
            <a:off x="762000" y="6262688"/>
            <a:ext cx="1665890" cy="595312"/>
          </a:xfrm>
          <a:prstGeom prst="rect">
            <a:avLst/>
          </a:prstGeom>
          <a:noFill/>
          <a:ln w="9525">
            <a:noFill/>
            <a:miter lim="800000"/>
            <a:headEnd/>
            <a:tailEnd/>
          </a:ln>
        </p:spPr>
      </p:pic>
      <p:sp>
        <p:nvSpPr>
          <p:cNvPr id="1717259" name="Rectangle 11"/>
          <p:cNvSpPr>
            <a:spLocks noGrp="1" noChangeArrowheads="1"/>
          </p:cNvSpPr>
          <p:nvPr>
            <p:ph type="sldNum" sz="quarter" idx="4"/>
          </p:nvPr>
        </p:nvSpPr>
        <p:spPr bwMode="auto">
          <a:xfrm>
            <a:off x="6629400" y="6477000"/>
            <a:ext cx="2133600" cy="247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charset="0"/>
              </a:defRPr>
            </a:lvl1pPr>
          </a:lstStyle>
          <a:p>
            <a:fld id="{2BC0F03C-F45D-4B4D-89C0-FE3468FE9F1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transition/>
  <p:txStyles>
    <p:titleStyle>
      <a:lvl1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mj-lt"/>
          <a:ea typeface="+mj-ea"/>
          <a:cs typeface="+mj-cs"/>
        </a:defRPr>
      </a:lvl1pPr>
      <a:lvl2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2pPr>
      <a:lvl3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3pPr>
      <a:lvl4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4pPr>
      <a:lvl5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5pPr>
      <a:lvl6pPr marL="4572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6pPr>
      <a:lvl7pPr marL="9144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7pPr>
      <a:lvl8pPr marL="13716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8pPr>
      <a:lvl9pPr marL="18288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a:solidFill>
            <a:schemeClr val="tx1"/>
          </a:solidFill>
          <a:latin typeface="+mn-lt"/>
        </a:defRPr>
      </a:lvl4pPr>
      <a:lvl5pPr marL="2057400" indent="-228600" algn="l" rtl="0" eaLnBrk="1" fontAlgn="base" hangingPunct="1">
        <a:spcBef>
          <a:spcPct val="20000"/>
        </a:spcBef>
        <a:spcAft>
          <a:spcPct val="0"/>
        </a:spcAft>
        <a:buChar char="»"/>
        <a:defRPr>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p:txBody>
          <a:bodyPr/>
          <a:lstStyle/>
          <a:p>
            <a:pPr eaLnBrk="1" hangingPunct="1"/>
            <a:r>
              <a:rPr lang="en-US" altLang="en-US" dirty="0" smtClean="0"/>
              <a:t>HVAC Components</a:t>
            </a:r>
          </a:p>
        </p:txBody>
      </p:sp>
      <p:sp>
        <p:nvSpPr>
          <p:cNvPr id="3076" name="Rectangle 3"/>
          <p:cNvSpPr>
            <a:spLocks noGrp="1" noChangeArrowheads="1"/>
          </p:cNvSpPr>
          <p:nvPr>
            <p:ph type="subTitle" idx="1"/>
          </p:nvPr>
        </p:nvSpPr>
        <p:spPr/>
        <p:txBody>
          <a:bodyPr/>
          <a:lstStyle/>
          <a:p>
            <a:pPr eaLnBrk="1" hangingPunct="1"/>
            <a:endParaRPr lang="en-US" altLang="en-US" dirty="0" smtClean="0"/>
          </a:p>
          <a:p>
            <a:pPr eaLnBrk="1" hangingPunct="1"/>
            <a:endParaRPr lang="en-US" altLang="en-US" dirty="0" smtClean="0"/>
          </a:p>
        </p:txBody>
      </p:sp>
    </p:spTree>
    <p:extLst>
      <p:ext uri="{BB962C8B-B14F-4D97-AF65-F5344CB8AC3E}">
        <p14:creationId xmlns:p14="http://schemas.microsoft.com/office/powerpoint/2010/main" val="263880134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altLang="en-US" dirty="0" smtClean="0"/>
              <a:t>COMPRESSOR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5" y="1295400"/>
            <a:ext cx="5000625"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5714999" y="1219200"/>
            <a:ext cx="3432411" cy="3416320"/>
          </a:xfrm>
          <a:prstGeom prst="rect">
            <a:avLst/>
          </a:prstGeom>
        </p:spPr>
        <p:txBody>
          <a:bodyPr wrap="square">
            <a:spAutoFit/>
          </a:bodyPr>
          <a:lstStyle/>
          <a:p>
            <a:r>
              <a:rPr lang="en-US" sz="2400" dirty="0"/>
              <a:t>The compressor </a:t>
            </a:r>
            <a:r>
              <a:rPr lang="en-US" sz="2400" dirty="0" smtClean="0"/>
              <a:t>is </a:t>
            </a:r>
            <a:r>
              <a:rPr lang="en-US" sz="2400" dirty="0"/>
              <a:t>the pump that circulates the refrigerant throughout </a:t>
            </a:r>
            <a:r>
              <a:rPr lang="en-US" sz="2400" dirty="0" smtClean="0"/>
              <a:t>the system</a:t>
            </a:r>
            <a:r>
              <a:rPr lang="en-US" sz="2400" dirty="0"/>
              <a:t>. It raises the pressure of the refrigerant for </a:t>
            </a:r>
            <a:r>
              <a:rPr lang="en-US" sz="2400" dirty="0" smtClean="0"/>
              <a:t>heat transfer </a:t>
            </a:r>
            <a:r>
              <a:rPr lang="en-US" sz="2400" dirty="0"/>
              <a:t>through the condenser and evaporator.</a:t>
            </a:r>
          </a:p>
        </p:txBody>
      </p:sp>
      <p:sp>
        <p:nvSpPr>
          <p:cNvPr id="3" name="Rectangle 2"/>
          <p:cNvSpPr/>
          <p:nvPr/>
        </p:nvSpPr>
        <p:spPr>
          <a:xfrm>
            <a:off x="609600" y="5181600"/>
            <a:ext cx="8229600" cy="923330"/>
          </a:xfrm>
          <a:prstGeom prst="rect">
            <a:avLst/>
          </a:prstGeom>
        </p:spPr>
        <p:txBody>
          <a:bodyPr wrap="square">
            <a:spAutoFit/>
          </a:bodyPr>
          <a:lstStyle/>
          <a:p>
            <a:r>
              <a:rPr lang="en-US" b="1" dirty="0"/>
              <a:t>The A/C system (Compressor) </a:t>
            </a:r>
            <a:r>
              <a:rPr lang="en-US" b="1" dirty="0" smtClean="0"/>
              <a:t>is recommended </a:t>
            </a:r>
            <a:r>
              <a:rPr lang="en-US" b="1" dirty="0"/>
              <a:t>to be turned on for at least </a:t>
            </a:r>
            <a:r>
              <a:rPr lang="en-US" b="1" dirty="0" smtClean="0"/>
              <a:t>5 minutes </a:t>
            </a:r>
            <a:r>
              <a:rPr lang="en-US" b="1" dirty="0"/>
              <a:t>weekly throughout the year </a:t>
            </a:r>
            <a:r>
              <a:rPr lang="en-US" b="1" dirty="0" smtClean="0"/>
              <a:t>to lubricate </a:t>
            </a:r>
            <a:r>
              <a:rPr lang="en-US" b="1" dirty="0"/>
              <a:t>the internal components.</a:t>
            </a:r>
            <a:endParaRPr lang="en-US" dirty="0"/>
          </a:p>
        </p:txBody>
      </p:sp>
    </p:spTree>
    <p:extLst>
      <p:ext uri="{BB962C8B-B14F-4D97-AF65-F5344CB8AC3E}">
        <p14:creationId xmlns:p14="http://schemas.microsoft.com/office/powerpoint/2010/main" val="602945520"/>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CONDENSOR</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2362200"/>
            <a:ext cx="5000625"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09600" y="1677412"/>
            <a:ext cx="3457575" cy="3046988"/>
          </a:xfrm>
          <a:prstGeom prst="rect">
            <a:avLst/>
          </a:prstGeom>
        </p:spPr>
        <p:txBody>
          <a:bodyPr wrap="square">
            <a:spAutoFit/>
          </a:bodyPr>
          <a:lstStyle/>
          <a:p>
            <a:r>
              <a:rPr lang="en-US" sz="2400" dirty="0"/>
              <a:t>The condenser </a:t>
            </a:r>
            <a:r>
              <a:rPr lang="en-US" sz="2400" dirty="0" smtClean="0"/>
              <a:t>is</a:t>
            </a:r>
            <a:endParaRPr lang="en-US" sz="2400" dirty="0"/>
          </a:p>
          <a:p>
            <a:r>
              <a:rPr lang="en-US" sz="2400" dirty="0"/>
              <a:t>the unit that receives the high pressure, high </a:t>
            </a:r>
            <a:r>
              <a:rPr lang="en-US" sz="2400" dirty="0" smtClean="0"/>
              <a:t>temperature refrigerant </a:t>
            </a:r>
            <a:r>
              <a:rPr lang="en-US" sz="2400" dirty="0"/>
              <a:t>vapor from the </a:t>
            </a:r>
            <a:r>
              <a:rPr lang="en-US" sz="2400" dirty="0" smtClean="0"/>
              <a:t>compressor and condenses it into </a:t>
            </a:r>
            <a:r>
              <a:rPr lang="en-US" sz="2400" dirty="0"/>
              <a:t>a high temperature liquid.</a:t>
            </a:r>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RECEIVER / DRIER</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5" y="1304925"/>
            <a:ext cx="5000625"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5791200" y="1219200"/>
            <a:ext cx="3374409" cy="3816429"/>
          </a:xfrm>
          <a:prstGeom prst="rect">
            <a:avLst/>
          </a:prstGeom>
        </p:spPr>
        <p:txBody>
          <a:bodyPr wrap="square">
            <a:spAutoFit/>
          </a:bodyPr>
          <a:lstStyle/>
          <a:p>
            <a:r>
              <a:rPr lang="en-US" sz="2200" dirty="0"/>
              <a:t>The receiver / drier </a:t>
            </a:r>
            <a:r>
              <a:rPr lang="en-US" sz="2200" dirty="0" smtClean="0"/>
              <a:t>is </a:t>
            </a:r>
            <a:r>
              <a:rPr lang="en-US" sz="2200" dirty="0"/>
              <a:t>the unit that receives the liquid refrigerant </a:t>
            </a:r>
            <a:r>
              <a:rPr lang="en-US" sz="2200" dirty="0" smtClean="0"/>
              <a:t>from the </a:t>
            </a:r>
            <a:r>
              <a:rPr lang="en-US" sz="2200" dirty="0"/>
              <a:t>condenser and removes moisture and foreign </a:t>
            </a:r>
            <a:r>
              <a:rPr lang="en-US" sz="2200" dirty="0" smtClean="0"/>
              <a:t>matter from </a:t>
            </a:r>
            <a:r>
              <a:rPr lang="en-US" sz="2200" dirty="0"/>
              <a:t>the system. It also serves as a storage tank for </a:t>
            </a:r>
            <a:r>
              <a:rPr lang="en-US" sz="2200" dirty="0" smtClean="0"/>
              <a:t>the extra </a:t>
            </a:r>
            <a:r>
              <a:rPr lang="en-US" sz="2200" dirty="0"/>
              <a:t>liquid refrigerant until it is needed by the evaporator.</a:t>
            </a:r>
          </a:p>
        </p:txBody>
      </p:sp>
      <p:sp>
        <p:nvSpPr>
          <p:cNvPr id="4" name="Rectangle 3"/>
          <p:cNvSpPr/>
          <p:nvPr/>
        </p:nvSpPr>
        <p:spPr>
          <a:xfrm>
            <a:off x="852486" y="5374184"/>
            <a:ext cx="8139113"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dirty="0" smtClean="0">
                <a:solidFill>
                  <a:srgbClr val="FF0000"/>
                </a:solidFill>
              </a:rPr>
              <a:t>Note!!!</a:t>
            </a:r>
            <a:r>
              <a:rPr lang="en-US" sz="2400" dirty="0" smtClean="0"/>
              <a:t> Both </a:t>
            </a:r>
            <a:r>
              <a:rPr lang="en-US" sz="2400" dirty="0"/>
              <a:t>fittings on the drier are the same size, so the </a:t>
            </a:r>
            <a:r>
              <a:rPr lang="en-US" sz="2400" dirty="0" smtClean="0"/>
              <a:t>                                                        hoses can </a:t>
            </a:r>
            <a:r>
              <a:rPr lang="en-US" sz="2400" dirty="0"/>
              <a:t>be hooked up incorrectly.</a:t>
            </a:r>
          </a:p>
        </p:txBody>
      </p: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RECEIVER / DRIER</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5" y="1304925"/>
            <a:ext cx="5000625"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634763" y="4953000"/>
            <a:ext cx="8509237" cy="1323439"/>
          </a:xfrm>
          <a:prstGeom prst="rect">
            <a:avLst/>
          </a:prstGeom>
        </p:spPr>
        <p:txBody>
          <a:bodyPr wrap="square">
            <a:spAutoFit/>
          </a:bodyPr>
          <a:lstStyle/>
          <a:p>
            <a:r>
              <a:rPr lang="en-US" sz="2000" i="1" dirty="0"/>
              <a:t>Pressure Switch</a:t>
            </a:r>
            <a:r>
              <a:rPr lang="en-US" sz="2000" dirty="0"/>
              <a:t>: The pressure switch </a:t>
            </a:r>
            <a:r>
              <a:rPr lang="en-US" sz="2000" dirty="0" smtClean="0"/>
              <a:t>will </a:t>
            </a:r>
            <a:r>
              <a:rPr lang="en-US" sz="2000" dirty="0"/>
              <a:t>disengage the </a:t>
            </a:r>
            <a:r>
              <a:rPr lang="en-US" sz="2000" dirty="0" smtClean="0"/>
              <a:t>compressor </a:t>
            </a:r>
            <a:r>
              <a:rPr lang="en-US" sz="2000" dirty="0"/>
              <a:t>clutch at </a:t>
            </a:r>
            <a:r>
              <a:rPr lang="en-US" sz="2000" dirty="0" smtClean="0"/>
              <a:t>high pressure </a:t>
            </a:r>
            <a:r>
              <a:rPr lang="en-US" sz="2000" dirty="0"/>
              <a:t>readings over </a:t>
            </a:r>
            <a:r>
              <a:rPr lang="en-US" sz="2000" dirty="0" smtClean="0"/>
              <a:t>384 psi on the </a:t>
            </a:r>
            <a:r>
              <a:rPr lang="en-US" sz="2000" dirty="0"/>
              <a:t>high side, or at very low pressure of </a:t>
            </a:r>
            <a:r>
              <a:rPr lang="en-US" sz="2000" dirty="0" smtClean="0"/>
              <a:t>28 psi </a:t>
            </a:r>
            <a:r>
              <a:rPr lang="en-US" sz="2000" dirty="0"/>
              <a:t>or less on the high side, which indicates loss </a:t>
            </a:r>
            <a:r>
              <a:rPr lang="en-US" sz="2000" dirty="0" smtClean="0"/>
              <a:t>of </a:t>
            </a:r>
            <a:r>
              <a:rPr lang="en-US" sz="2000" dirty="0"/>
              <a:t>refrigerant.</a:t>
            </a:r>
          </a:p>
        </p:txBody>
      </p:sp>
      <p:cxnSp>
        <p:nvCxnSpPr>
          <p:cNvPr id="6" name="Straight Arrow Connector 5"/>
          <p:cNvCxnSpPr/>
          <p:nvPr/>
        </p:nvCxnSpPr>
        <p:spPr bwMode="auto">
          <a:xfrm flipV="1">
            <a:off x="1219200" y="2362200"/>
            <a:ext cx="685800" cy="2715162"/>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
        <p:nvSpPr>
          <p:cNvPr id="14" name="Rectangle 13"/>
          <p:cNvSpPr/>
          <p:nvPr/>
        </p:nvSpPr>
        <p:spPr>
          <a:xfrm>
            <a:off x="6026624" y="1992868"/>
            <a:ext cx="2964976" cy="2554545"/>
          </a:xfrm>
          <a:prstGeom prst="rect">
            <a:avLst/>
          </a:prstGeom>
        </p:spPr>
        <p:txBody>
          <a:bodyPr wrap="square">
            <a:spAutoFit/>
          </a:bodyPr>
          <a:lstStyle/>
          <a:p>
            <a:r>
              <a:rPr lang="en-US" sz="2000" i="1" dirty="0" smtClean="0"/>
              <a:t>Sight glass:  </a:t>
            </a:r>
            <a:r>
              <a:rPr lang="en-US" sz="2000" dirty="0" smtClean="0"/>
              <a:t>The sight glass can be used to determine if the system is low on refrigerant. If bubbles are present in the sight glass, it is likely that the system is low on refrigerant. </a:t>
            </a:r>
            <a:endParaRPr lang="en-US" sz="2000" dirty="0"/>
          </a:p>
        </p:txBody>
      </p:sp>
      <p:cxnSp>
        <p:nvCxnSpPr>
          <p:cNvPr id="16" name="Straight Arrow Connector 15"/>
          <p:cNvCxnSpPr/>
          <p:nvPr/>
        </p:nvCxnSpPr>
        <p:spPr bwMode="auto">
          <a:xfrm flipH="1">
            <a:off x="3138487" y="2133600"/>
            <a:ext cx="2817813" cy="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568312734"/>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EXPANSION VALVE</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304925"/>
            <a:ext cx="5000625"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609600" y="1447800"/>
            <a:ext cx="3563345" cy="1569660"/>
          </a:xfrm>
          <a:prstGeom prst="rect">
            <a:avLst/>
          </a:prstGeom>
        </p:spPr>
        <p:txBody>
          <a:bodyPr wrap="square">
            <a:spAutoFit/>
          </a:bodyPr>
          <a:lstStyle/>
          <a:p>
            <a:r>
              <a:rPr lang="en-US" sz="2400" dirty="0"/>
              <a:t>The expansion valve </a:t>
            </a:r>
            <a:r>
              <a:rPr lang="en-US" sz="2400" dirty="0" smtClean="0"/>
              <a:t>controls </a:t>
            </a:r>
            <a:r>
              <a:rPr lang="en-US" sz="2400" dirty="0"/>
              <a:t>the amount of refrigerant entering </a:t>
            </a:r>
            <a:r>
              <a:rPr lang="en-US" sz="2400" dirty="0" smtClean="0"/>
              <a:t>the </a:t>
            </a:r>
            <a:r>
              <a:rPr lang="en-US" sz="2400" dirty="0"/>
              <a:t>evaporator coil.</a:t>
            </a:r>
          </a:p>
        </p:txBody>
      </p:sp>
      <p:sp>
        <p:nvSpPr>
          <p:cNvPr id="4" name="Rectangle 3"/>
          <p:cNvSpPr/>
          <p:nvPr/>
        </p:nvSpPr>
        <p:spPr>
          <a:xfrm>
            <a:off x="990600" y="3581400"/>
            <a:ext cx="2127762" cy="461665"/>
          </a:xfrm>
          <a:prstGeom prst="rect">
            <a:avLst/>
          </a:prstGeom>
        </p:spPr>
        <p:txBody>
          <a:bodyPr wrap="none">
            <a:spAutoFit/>
          </a:bodyPr>
          <a:lstStyle/>
          <a:p>
            <a:r>
              <a:rPr lang="en-US" sz="2400" dirty="0" smtClean="0"/>
              <a:t>Pressure ports</a:t>
            </a:r>
            <a:endParaRPr lang="en-US" sz="2400" dirty="0"/>
          </a:p>
        </p:txBody>
      </p:sp>
      <p:cxnSp>
        <p:nvCxnSpPr>
          <p:cNvPr id="6" name="Straight Arrow Connector 5"/>
          <p:cNvCxnSpPr/>
          <p:nvPr/>
        </p:nvCxnSpPr>
        <p:spPr bwMode="auto">
          <a:xfrm flipV="1">
            <a:off x="3200400" y="2840831"/>
            <a:ext cx="2398953" cy="971401"/>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9" name="Straight Arrow Connector 8"/>
          <p:cNvCxnSpPr/>
          <p:nvPr/>
        </p:nvCxnSpPr>
        <p:spPr bwMode="auto">
          <a:xfrm flipV="1">
            <a:off x="3200400" y="3090862"/>
            <a:ext cx="2971800" cy="740569"/>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HEATER / EVAPORATOR UNIT</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1304925"/>
            <a:ext cx="5000625"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685800" y="5172670"/>
            <a:ext cx="3962400"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The evaporator coil </a:t>
            </a:r>
            <a:r>
              <a:rPr lang="en-US" dirty="0" smtClean="0"/>
              <a:t>cools </a:t>
            </a:r>
            <a:r>
              <a:rPr lang="en-US" dirty="0"/>
              <a:t>and dehumidifies the air before it </a:t>
            </a:r>
            <a:r>
              <a:rPr lang="en-US" dirty="0" smtClean="0"/>
              <a:t> </a:t>
            </a:r>
          </a:p>
          <a:p>
            <a:r>
              <a:rPr lang="en-US" dirty="0" smtClean="0"/>
              <a:t>enters the cab</a:t>
            </a:r>
            <a:r>
              <a:rPr lang="en-US" dirty="0"/>
              <a:t>.</a:t>
            </a:r>
          </a:p>
        </p:txBody>
      </p:sp>
      <p:sp>
        <p:nvSpPr>
          <p:cNvPr id="4" name="Rectangle 3"/>
          <p:cNvSpPr/>
          <p:nvPr/>
        </p:nvSpPr>
        <p:spPr>
          <a:xfrm>
            <a:off x="5257800" y="5172670"/>
            <a:ext cx="3581400"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The </a:t>
            </a:r>
            <a:r>
              <a:rPr lang="en-US" dirty="0" smtClean="0"/>
              <a:t>thermostat controls </a:t>
            </a:r>
            <a:r>
              <a:rPr lang="en-US" dirty="0"/>
              <a:t>the temperature of the evaporator coil.</a:t>
            </a:r>
          </a:p>
        </p:txBody>
      </p:sp>
      <p:sp>
        <p:nvSpPr>
          <p:cNvPr id="5" name="Rectangle 4"/>
          <p:cNvSpPr/>
          <p:nvPr/>
        </p:nvSpPr>
        <p:spPr>
          <a:xfrm>
            <a:off x="5715000" y="3801070"/>
            <a:ext cx="3402842"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The heater </a:t>
            </a:r>
            <a:r>
              <a:rPr lang="en-US" dirty="0" smtClean="0"/>
              <a:t>coil supplies </a:t>
            </a:r>
            <a:r>
              <a:rPr lang="en-US" dirty="0"/>
              <a:t>the </a:t>
            </a:r>
            <a:endParaRPr lang="en-US" dirty="0" smtClean="0"/>
          </a:p>
          <a:p>
            <a:r>
              <a:rPr lang="en-US" dirty="0" smtClean="0"/>
              <a:t>warm air </a:t>
            </a:r>
            <a:r>
              <a:rPr lang="en-US" dirty="0"/>
              <a:t>into the cab by passing </a:t>
            </a:r>
            <a:r>
              <a:rPr lang="en-US" dirty="0" smtClean="0"/>
              <a:t>air through the </a:t>
            </a:r>
            <a:r>
              <a:rPr lang="en-US" dirty="0"/>
              <a:t>coil.</a:t>
            </a:r>
          </a:p>
        </p:txBody>
      </p:sp>
      <p:sp>
        <p:nvSpPr>
          <p:cNvPr id="6" name="Rectangle 5"/>
          <p:cNvSpPr/>
          <p:nvPr/>
        </p:nvSpPr>
        <p:spPr>
          <a:xfrm>
            <a:off x="5867400" y="2152471"/>
            <a:ext cx="3250442"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The blower </a:t>
            </a:r>
            <a:r>
              <a:rPr lang="en-US" dirty="0" smtClean="0"/>
              <a:t>is </a:t>
            </a:r>
            <a:r>
              <a:rPr lang="en-US" dirty="0"/>
              <a:t>used to push air through the heater and</a:t>
            </a:r>
          </a:p>
          <a:p>
            <a:r>
              <a:rPr lang="en-US" dirty="0"/>
              <a:t>evaporator coils and into the cab.</a:t>
            </a:r>
          </a:p>
        </p:txBody>
      </p:sp>
      <p:cxnSp>
        <p:nvCxnSpPr>
          <p:cNvPr id="8" name="Straight Arrow Connector 7"/>
          <p:cNvCxnSpPr/>
          <p:nvPr/>
        </p:nvCxnSpPr>
        <p:spPr bwMode="auto">
          <a:xfrm flipH="1" flipV="1">
            <a:off x="4495800" y="1913977"/>
            <a:ext cx="1295400" cy="238494"/>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flipH="1" flipV="1">
            <a:off x="4800600" y="2971800"/>
            <a:ext cx="1066800" cy="75307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flipH="1" flipV="1">
            <a:off x="3886200" y="3413120"/>
            <a:ext cx="2083558" cy="175955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7" name="Straight Arrow Connector 16"/>
          <p:cNvCxnSpPr/>
          <p:nvPr/>
        </p:nvCxnSpPr>
        <p:spPr bwMode="auto">
          <a:xfrm flipV="1">
            <a:off x="2438400" y="3733800"/>
            <a:ext cx="0" cy="143887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CONTROL PANEL</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3209925"/>
            <a:ext cx="5000625" cy="3571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4" name="Rectangle 3"/>
          <p:cNvSpPr/>
          <p:nvPr/>
        </p:nvSpPr>
        <p:spPr>
          <a:xfrm>
            <a:off x="838200" y="1305635"/>
            <a:ext cx="4114800"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i="1" dirty="0"/>
              <a:t>Fan Switch</a:t>
            </a:r>
            <a:r>
              <a:rPr lang="en-US" dirty="0"/>
              <a:t>: This is a four position rotary switch </a:t>
            </a:r>
            <a:r>
              <a:rPr lang="en-US" dirty="0" smtClean="0"/>
              <a:t>. </a:t>
            </a:r>
            <a:r>
              <a:rPr lang="en-US" dirty="0"/>
              <a:t>When the fan switch is in the </a:t>
            </a:r>
            <a:r>
              <a:rPr lang="en-US" dirty="0" smtClean="0"/>
              <a:t>off position </a:t>
            </a:r>
            <a:r>
              <a:rPr lang="en-US" dirty="0"/>
              <a:t>the A/C will not engage, but the heat valve </a:t>
            </a:r>
            <a:r>
              <a:rPr lang="en-US" dirty="0" smtClean="0"/>
              <a:t>will operate</a:t>
            </a:r>
            <a:r>
              <a:rPr lang="en-US" dirty="0"/>
              <a:t>, as it is controlled by the key switch.</a:t>
            </a:r>
          </a:p>
        </p:txBody>
      </p:sp>
      <p:sp>
        <p:nvSpPr>
          <p:cNvPr id="5" name="Rectangle 4"/>
          <p:cNvSpPr/>
          <p:nvPr/>
        </p:nvSpPr>
        <p:spPr>
          <a:xfrm>
            <a:off x="5181600" y="1639837"/>
            <a:ext cx="3581400"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i="1" dirty="0"/>
              <a:t>A/C Switch</a:t>
            </a:r>
            <a:r>
              <a:rPr lang="en-US" dirty="0"/>
              <a:t>: The rocker switch </a:t>
            </a:r>
            <a:r>
              <a:rPr lang="en-US" dirty="0" smtClean="0"/>
              <a:t>will </a:t>
            </a:r>
            <a:r>
              <a:rPr lang="en-US" dirty="0"/>
              <a:t>be illuminated when the A/C is engaged</a:t>
            </a:r>
            <a:r>
              <a:rPr lang="en-US" dirty="0" smtClean="0"/>
              <a:t>.</a:t>
            </a:r>
            <a:endParaRPr lang="en-US" dirty="0"/>
          </a:p>
        </p:txBody>
      </p:sp>
      <p:sp>
        <p:nvSpPr>
          <p:cNvPr id="6" name="Rectangle 5"/>
          <p:cNvSpPr/>
          <p:nvPr/>
        </p:nvSpPr>
        <p:spPr>
          <a:xfrm>
            <a:off x="609600" y="3429000"/>
            <a:ext cx="3352800" cy="20313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i="1" dirty="0"/>
              <a:t>Potentiometer</a:t>
            </a:r>
            <a:r>
              <a:rPr lang="en-US" dirty="0"/>
              <a:t>: The potentiometer </a:t>
            </a:r>
            <a:r>
              <a:rPr lang="en-US" dirty="0" smtClean="0"/>
              <a:t>controls </a:t>
            </a:r>
            <a:r>
              <a:rPr lang="en-US" dirty="0"/>
              <a:t>the Heat Valve from fully Off to fully </a:t>
            </a:r>
            <a:r>
              <a:rPr lang="en-US" dirty="0" smtClean="0"/>
              <a:t>On. This </a:t>
            </a:r>
            <a:r>
              <a:rPr lang="en-US" dirty="0"/>
              <a:t>can be used in conjunction with the A/C for </a:t>
            </a:r>
            <a:r>
              <a:rPr lang="en-US" dirty="0" smtClean="0"/>
              <a:t>defrost of </a:t>
            </a:r>
            <a:r>
              <a:rPr lang="en-US" dirty="0"/>
              <a:t>the windows and temperature control.</a:t>
            </a:r>
          </a:p>
        </p:txBody>
      </p:sp>
      <p:cxnSp>
        <p:nvCxnSpPr>
          <p:cNvPr id="12" name="Straight Arrow Connector 11"/>
          <p:cNvCxnSpPr/>
          <p:nvPr/>
        </p:nvCxnSpPr>
        <p:spPr bwMode="auto">
          <a:xfrm flipV="1">
            <a:off x="3962400" y="4995862"/>
            <a:ext cx="3124200" cy="464464"/>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6" name="Elbow Connector 15"/>
          <p:cNvCxnSpPr/>
          <p:nvPr/>
        </p:nvCxnSpPr>
        <p:spPr bwMode="auto">
          <a:xfrm rot="5400000">
            <a:off x="6774503" y="2760964"/>
            <a:ext cx="1881497" cy="1485902"/>
          </a:xfrm>
          <a:prstGeom prst="bentConnector3">
            <a:avLst>
              <a:gd name="adj1" fmla="val 50000"/>
            </a:avLst>
          </a:prstGeom>
          <a:solidFill>
            <a:schemeClr val="accent1"/>
          </a:solidFill>
          <a:ln w="38100" cap="flat" cmpd="sng" algn="ctr">
            <a:solidFill>
              <a:srgbClr val="FF0000"/>
            </a:solidFill>
            <a:prstDash val="solid"/>
            <a:round/>
            <a:headEnd type="none" w="med" len="med"/>
            <a:tailEnd type="arrow"/>
          </a:ln>
          <a:effectLst/>
        </p:spPr>
      </p:cxnSp>
      <p:cxnSp>
        <p:nvCxnSpPr>
          <p:cNvPr id="21523" name="Elbow Connector 21522"/>
          <p:cNvCxnSpPr/>
          <p:nvPr/>
        </p:nvCxnSpPr>
        <p:spPr bwMode="auto">
          <a:xfrm rot="16200000" flipH="1">
            <a:off x="4838704" y="2857498"/>
            <a:ext cx="1524000" cy="1295404"/>
          </a:xfrm>
          <a:prstGeom prst="bentConnector3">
            <a:avLst>
              <a:gd name="adj1" fmla="val 50000"/>
            </a:avLst>
          </a:prstGeom>
          <a:solidFill>
            <a:schemeClr val="accent1"/>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HEATER VALVE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4575" y="2514600"/>
            <a:ext cx="5000625"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143000" y="1362671"/>
            <a:ext cx="7772400" cy="830997"/>
          </a:xfrm>
          <a:prstGeom prst="rect">
            <a:avLst/>
          </a:prstGeom>
        </p:spPr>
        <p:txBody>
          <a:bodyPr wrap="square">
            <a:spAutoFit/>
          </a:bodyPr>
          <a:lstStyle/>
          <a:p>
            <a:r>
              <a:rPr lang="en-US" sz="2400" dirty="0"/>
              <a:t>The heater valve i</a:t>
            </a:r>
            <a:r>
              <a:rPr lang="en-US" sz="2400" dirty="0" smtClean="0"/>
              <a:t>s </a:t>
            </a:r>
            <a:r>
              <a:rPr lang="en-US" sz="2400" dirty="0"/>
              <a:t>used to control the amount of engine coolant that </a:t>
            </a:r>
            <a:r>
              <a:rPr lang="en-US" sz="2400" dirty="0" smtClean="0"/>
              <a:t>flows to </a:t>
            </a:r>
            <a:r>
              <a:rPr lang="en-US" sz="2400" dirty="0"/>
              <a:t>the heater coil.</a:t>
            </a:r>
          </a:p>
        </p:txBody>
      </p: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FRESH AIR FILTERS</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743200"/>
            <a:ext cx="2476500"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2743200"/>
            <a:ext cx="2476500"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533400" y="1384301"/>
            <a:ext cx="8458200" cy="1200329"/>
          </a:xfrm>
          <a:prstGeom prst="rect">
            <a:avLst/>
          </a:prstGeom>
        </p:spPr>
        <p:txBody>
          <a:bodyPr wrap="square">
            <a:spAutoFit/>
          </a:bodyPr>
          <a:lstStyle/>
          <a:p>
            <a:r>
              <a:rPr lang="en-US" sz="2400" dirty="0"/>
              <a:t>Shake the filter </a:t>
            </a:r>
            <a:r>
              <a:rPr lang="en-US" sz="2400" dirty="0" smtClean="0"/>
              <a:t>or </a:t>
            </a:r>
            <a:r>
              <a:rPr lang="en-US" sz="2400" dirty="0"/>
              <a:t>use </a:t>
            </a:r>
            <a:r>
              <a:rPr lang="en-US" sz="2400" dirty="0" smtClean="0"/>
              <a:t>low pressure </a:t>
            </a:r>
            <a:r>
              <a:rPr lang="en-US" sz="2400" dirty="0"/>
              <a:t>air to remove dirt. This procedure can be </a:t>
            </a:r>
            <a:r>
              <a:rPr lang="en-US" sz="2400" dirty="0" smtClean="0"/>
              <a:t>done several </a:t>
            </a:r>
            <a:r>
              <a:rPr lang="en-US" sz="2400" dirty="0"/>
              <a:t>times before replacement is required. </a:t>
            </a:r>
          </a:p>
        </p:txBody>
      </p: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RECIRCULATION FILTER</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3057525"/>
            <a:ext cx="5000625"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714375" y="1819870"/>
            <a:ext cx="8582025" cy="1015663"/>
          </a:xfrm>
          <a:prstGeom prst="rect">
            <a:avLst/>
          </a:prstGeom>
        </p:spPr>
        <p:txBody>
          <a:bodyPr wrap="square">
            <a:spAutoFit/>
          </a:bodyPr>
          <a:lstStyle/>
          <a:p>
            <a:r>
              <a:rPr lang="en-US" sz="2000" dirty="0"/>
              <a:t>The recirculation filter is located behind the </a:t>
            </a:r>
            <a:r>
              <a:rPr lang="en-US" sz="2000" dirty="0" smtClean="0"/>
              <a:t>operator’s seat </a:t>
            </a:r>
            <a:r>
              <a:rPr lang="en-US" sz="2000" dirty="0"/>
              <a:t>inside the operator cab. The filter cover is held </a:t>
            </a:r>
            <a:r>
              <a:rPr lang="en-US" sz="2000" dirty="0" smtClean="0"/>
              <a:t>in position </a:t>
            </a:r>
            <a:r>
              <a:rPr lang="en-US" sz="2000" dirty="0"/>
              <a:t>with three clips. </a:t>
            </a:r>
            <a:r>
              <a:rPr lang="en-US" sz="2000" dirty="0" smtClean="0"/>
              <a:t>Pull </a:t>
            </a:r>
            <a:r>
              <a:rPr lang="en-US" sz="2000" dirty="0"/>
              <a:t>the cover at each </a:t>
            </a:r>
            <a:r>
              <a:rPr lang="en-US" sz="2000" dirty="0" smtClean="0"/>
              <a:t>end to remove.</a:t>
            </a:r>
            <a:endParaRPr lang="en-US" sz="2000" dirty="0"/>
          </a:p>
        </p:txBody>
      </p:sp>
      <p:sp>
        <p:nvSpPr>
          <p:cNvPr id="4" name="Rectangle 3"/>
          <p:cNvSpPr/>
          <p:nvPr/>
        </p:nvSpPr>
        <p:spPr>
          <a:xfrm>
            <a:off x="685800" y="3399472"/>
            <a:ext cx="3048000" cy="1323439"/>
          </a:xfrm>
          <a:prstGeom prst="rect">
            <a:avLst/>
          </a:prstGeom>
        </p:spPr>
        <p:txBody>
          <a:bodyPr wrap="square">
            <a:spAutoFit/>
          </a:bodyPr>
          <a:lstStyle/>
          <a:p>
            <a:r>
              <a:rPr lang="en-US" sz="2000" dirty="0"/>
              <a:t>Rinse the filter </a:t>
            </a:r>
            <a:r>
              <a:rPr lang="en-US" sz="2000" dirty="0" smtClean="0"/>
              <a:t>elements </a:t>
            </a:r>
            <a:r>
              <a:rPr lang="en-US" sz="2000" dirty="0"/>
              <a:t>with water or use a vacuum </a:t>
            </a:r>
            <a:r>
              <a:rPr lang="en-US" sz="2000" dirty="0" smtClean="0"/>
              <a:t>to clean</a:t>
            </a:r>
            <a:r>
              <a:rPr lang="en-US" sz="2000" dirty="0"/>
              <a:t>. Do not use solvents.</a:t>
            </a:r>
          </a:p>
        </p:txBody>
      </p: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a:xfrm>
            <a:off x="700088" y="228600"/>
            <a:ext cx="8118475" cy="838200"/>
          </a:xfrm>
        </p:spPr>
        <p:txBody>
          <a:bodyPr/>
          <a:lstStyle/>
          <a:p>
            <a:r>
              <a:rPr lang="en-US" dirty="0" smtClean="0"/>
              <a:t>EDT – ELECTRONIC DE-ICING THERMOSTAT</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75547"/>
            <a:ext cx="4419600" cy="3165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281205"/>
            <a:ext cx="3873130" cy="23763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 name="Rectangle 2"/>
          <p:cNvSpPr/>
          <p:nvPr/>
        </p:nvSpPr>
        <p:spPr>
          <a:xfrm>
            <a:off x="609036" y="4494074"/>
            <a:ext cx="8534964" cy="1754326"/>
          </a:xfrm>
          <a:prstGeom prst="rect">
            <a:avLst/>
          </a:prstGeom>
        </p:spPr>
        <p:txBody>
          <a:bodyPr wrap="square">
            <a:spAutoFit/>
          </a:bodyPr>
          <a:lstStyle/>
          <a:p>
            <a:r>
              <a:rPr lang="en-US" b="1" dirty="0"/>
              <a:t>The EDT has the following protection built in:</a:t>
            </a:r>
          </a:p>
          <a:p>
            <a:r>
              <a:rPr lang="en-US" dirty="0"/>
              <a:t>1. Over temperature</a:t>
            </a:r>
          </a:p>
          <a:p>
            <a:r>
              <a:rPr lang="en-US" dirty="0"/>
              <a:t>2. Over current from clutch output</a:t>
            </a:r>
          </a:p>
          <a:p>
            <a:r>
              <a:rPr lang="en-US" dirty="0"/>
              <a:t>3. Voltage (Above and below operational limits </a:t>
            </a:r>
            <a:r>
              <a:rPr lang="en-US" dirty="0" smtClean="0"/>
              <a:t>or reverse </a:t>
            </a:r>
            <a:r>
              <a:rPr lang="en-US" dirty="0"/>
              <a:t>voltage)</a:t>
            </a:r>
          </a:p>
          <a:p>
            <a:r>
              <a:rPr lang="en-US" dirty="0"/>
              <a:t>4. Short protection (Output shorted to ground)</a:t>
            </a:r>
          </a:p>
          <a:p>
            <a:r>
              <a:rPr lang="en-US" dirty="0"/>
              <a:t>5. Temperature sensor open and short detection</a:t>
            </a:r>
          </a:p>
        </p:txBody>
      </p: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PRESSURE RELIEF VALVE</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4050" y="2362277"/>
            <a:ext cx="6153150" cy="40385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538735" y="1295400"/>
            <a:ext cx="8684750" cy="923330"/>
          </a:xfrm>
          <a:prstGeom prst="rect">
            <a:avLst/>
          </a:prstGeom>
        </p:spPr>
        <p:txBody>
          <a:bodyPr wrap="none">
            <a:spAutoFit/>
          </a:bodyPr>
          <a:lstStyle/>
          <a:p>
            <a:r>
              <a:rPr lang="en-US" dirty="0" smtClean="0"/>
              <a:t>The pressure relief valve is located on the receiver drier assembly. This small brass </a:t>
            </a:r>
          </a:p>
          <a:p>
            <a:r>
              <a:rPr lang="en-US" dirty="0" smtClean="0"/>
              <a:t>Valve is a safety feature that is designed to open and release the A/C charge if the </a:t>
            </a:r>
          </a:p>
          <a:p>
            <a:r>
              <a:rPr lang="en-US" dirty="0" smtClean="0"/>
              <a:t>Pressure reaches 535 psi.</a:t>
            </a:r>
          </a:p>
        </p:txBody>
      </p:sp>
      <p:cxnSp>
        <p:nvCxnSpPr>
          <p:cNvPr id="5" name="Straight Arrow Connector 4"/>
          <p:cNvCxnSpPr/>
          <p:nvPr/>
        </p:nvCxnSpPr>
        <p:spPr bwMode="auto">
          <a:xfrm>
            <a:off x="3581400" y="2057400"/>
            <a:ext cx="1219200" cy="129540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PRESSURE RELIEF VALVE</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7306" y="2043113"/>
            <a:ext cx="4709294" cy="33670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PRESSURE RELIEF VALVE	</a:t>
            </a:r>
            <a:endParaRPr lang="en-US" dirty="0"/>
          </a:p>
        </p:txBody>
      </p:sp>
      <p:pic>
        <p:nvPicPr>
          <p:cNvPr id="1026" name="Picture 2" descr="C:\Users\bmcfarland\Downloads\IMG_356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1447800"/>
            <a:ext cx="6553200" cy="4914900"/>
          </a:xfrm>
          <a:prstGeom prst="rect">
            <a:avLst/>
          </a:prstGeom>
          <a:noFill/>
          <a:extLst>
            <a:ext uri="{909E8E84-426E-40DD-AFC4-6F175D3DCCD1}">
              <a14:hiddenFill xmlns:a14="http://schemas.microsoft.com/office/drawing/2010/main">
                <a:solidFill>
                  <a:srgbClr val="FFFFFF"/>
                </a:solidFill>
              </a14:hiddenFill>
            </a:ext>
          </a:extLst>
        </p:spPr>
      </p:pic>
      <p:sp>
        <p:nvSpPr>
          <p:cNvPr id="7" name="Right Arrow 6"/>
          <p:cNvSpPr/>
          <p:nvPr/>
        </p:nvSpPr>
        <p:spPr bwMode="auto">
          <a:xfrm>
            <a:off x="2438400" y="3985146"/>
            <a:ext cx="2133600" cy="609600"/>
          </a:xfrm>
          <a:prstGeom prst="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smtClean="0">
              <a:ln>
                <a:noFill/>
              </a:ln>
              <a:solidFill>
                <a:schemeClr val="accent1"/>
              </a:solidFill>
              <a:effectLst/>
              <a:latin typeface="Arial" charset="0"/>
            </a:endParaRPr>
          </a:p>
        </p:txBody>
      </p:sp>
    </p:spTree>
    <p:extLst>
      <p:ext uri="{BB962C8B-B14F-4D97-AF65-F5344CB8AC3E}">
        <p14:creationId xmlns:p14="http://schemas.microsoft.com/office/powerpoint/2010/main" val="352341828"/>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Title 1"/>
          <p:cNvSpPr>
            <a:spLocks noGrp="1"/>
          </p:cNvSpPr>
          <p:nvPr>
            <p:ph type="title"/>
          </p:nvPr>
        </p:nvSpPr>
        <p:spPr/>
        <p:txBody>
          <a:bodyPr/>
          <a:lstStyle/>
          <a:p>
            <a:r>
              <a:rPr lang="en-US" dirty="0" smtClean="0"/>
              <a:t>EVAPORATOR / HEATER COVER	</a:t>
            </a:r>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6838" y="3089512"/>
            <a:ext cx="5000625"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609600" y="1903274"/>
            <a:ext cx="3429000" cy="1754326"/>
          </a:xfrm>
          <a:prstGeom prst="rect">
            <a:avLst/>
          </a:prstGeom>
        </p:spPr>
        <p:txBody>
          <a:bodyPr wrap="square">
            <a:spAutoFit/>
          </a:bodyPr>
          <a:lstStyle/>
          <a:p>
            <a:r>
              <a:rPr lang="en-US" b="1" dirty="0"/>
              <a:t>DO NOT hook the tabs </a:t>
            </a:r>
            <a:r>
              <a:rPr lang="en-US" b="1" dirty="0" smtClean="0"/>
              <a:t>until </a:t>
            </a:r>
            <a:r>
              <a:rPr lang="en-US" b="1" dirty="0"/>
              <a:t>later. Damage to the seal can </a:t>
            </a:r>
            <a:r>
              <a:rPr lang="en-US" b="1" dirty="0" smtClean="0"/>
              <a:t>occur allowing </a:t>
            </a:r>
            <a:r>
              <a:rPr lang="en-US" b="1" dirty="0"/>
              <a:t>water to enter the housing causing</a:t>
            </a:r>
          </a:p>
          <a:p>
            <a:r>
              <a:rPr lang="en-US" b="1" dirty="0"/>
              <a:t>premature internal component failure.</a:t>
            </a:r>
            <a:endParaRPr lang="en-US" dirty="0"/>
          </a:p>
        </p:txBody>
      </p:sp>
      <p:cxnSp>
        <p:nvCxnSpPr>
          <p:cNvPr id="5" name="Straight Arrow Connector 4"/>
          <p:cNvCxnSpPr/>
          <p:nvPr/>
        </p:nvCxnSpPr>
        <p:spPr bwMode="auto">
          <a:xfrm>
            <a:off x="4038600" y="2057400"/>
            <a:ext cx="4724400" cy="266700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a:off x="4038600" y="2057400"/>
            <a:ext cx="2438400" cy="259080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5" name="Straight Arrow Connector 14"/>
          <p:cNvCxnSpPr/>
          <p:nvPr/>
        </p:nvCxnSpPr>
        <p:spPr bwMode="auto">
          <a:xfrm>
            <a:off x="4038600" y="2057400"/>
            <a:ext cx="381000" cy="259080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953391670"/>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Bobcat">
  <a:themeElements>
    <a:clrScheme name="orange_side_template_200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range_side_template_2006">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accent1"/>
            </a:solidFill>
            <a:effectLst/>
            <a:latin typeface="Arial" charset="0"/>
          </a:defRPr>
        </a:defPPr>
      </a:lstStyle>
    </a:lnDef>
  </a:objectDefaults>
  <a:extraClrSchemeLst>
    <a:extraClrScheme>
      <a:clrScheme name="orange_side_template_200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range_side_template_2006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range_side_template_2006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range_side_template_2006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range_side_template_2006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range_side_template_2006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range_side_template_2006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AA5A8AEA7BEFD429155B4F4F35992AF" ma:contentTypeVersion="12" ma:contentTypeDescription="Create a new document." ma:contentTypeScope="" ma:versionID="d31a8a9230b862674c0e6f6f9bc34b39">
  <xsd:schema xmlns:xsd="http://www.w3.org/2001/XMLSchema" xmlns:xs="http://www.w3.org/2001/XMLSchema" xmlns:p="http://schemas.microsoft.com/office/2006/metadata/properties" xmlns:ns2="2f2826e4-9515-451e-9b2a-6dcc51677b4f" xmlns:ns3="92993479-0310-490b-83e9-ee080835902c" targetNamespace="http://schemas.microsoft.com/office/2006/metadata/properties" ma:root="true" ma:fieldsID="f3898e7bb7d8730441ac26dbb9dae5dc" ns2:_="" ns3:_="">
    <xsd:import namespace="2f2826e4-9515-451e-9b2a-6dcc51677b4f"/>
    <xsd:import namespace="92993479-0310-490b-83e9-ee080835902c"/>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2826e4-9515-451e-9b2a-6dcc51677b4f"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b7c6bcd-9d99-4516-a920-77b75fce039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993479-0310-490b-83e9-ee080835902c"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a0189bf-8988-403b-9066-b1fd957158d1}" ma:internalName="TaxCatchAll" ma:showField="CatchAllData" ma:web="92993479-0310-490b-83e9-ee08083590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2993479-0310-490b-83e9-ee080835902c" xsi:nil="true"/>
    <MediaLengthInSeconds xmlns="2f2826e4-9515-451e-9b2a-6dcc51677b4f" xsi:nil="true"/>
    <lcf76f155ced4ddcb4097134ff3c332f xmlns="2f2826e4-9515-451e-9b2a-6dcc51677b4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EA3427E-427D-48D6-B0BE-0CBFA10B79BE}"/>
</file>

<file path=customXml/itemProps2.xml><?xml version="1.0" encoding="utf-8"?>
<ds:datastoreItem xmlns:ds="http://schemas.openxmlformats.org/officeDocument/2006/customXml" ds:itemID="{028FD82D-15AA-4247-954B-7384F853E7BC}"/>
</file>

<file path=customXml/itemProps3.xml><?xml version="1.0" encoding="utf-8"?>
<ds:datastoreItem xmlns:ds="http://schemas.openxmlformats.org/officeDocument/2006/customXml" ds:itemID="{35E6E6A6-C617-41D2-9E07-9CF3254A70A4}"/>
</file>

<file path=docProps/app.xml><?xml version="1.0" encoding="utf-8"?>
<Properties xmlns="http://schemas.openxmlformats.org/officeDocument/2006/extended-properties" xmlns:vt="http://schemas.openxmlformats.org/officeDocument/2006/docPropsVTypes">
  <Template>Bobcat</Template>
  <TotalTime>1674</TotalTime>
  <Words>648</Words>
  <Application>Microsoft Office PowerPoint</Application>
  <PresentationFormat>On-screen Show (4:3)</PresentationFormat>
  <Paragraphs>51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Bobcat</vt:lpstr>
      <vt:lpstr>HVAC Components</vt:lpstr>
      <vt:lpstr>COMPRESSOR</vt:lpstr>
      <vt:lpstr>CONDENSOR</vt:lpstr>
      <vt:lpstr>RECEIVER / DRIER</vt:lpstr>
      <vt:lpstr>RECEIVER / DRIER</vt:lpstr>
      <vt:lpstr>EXPANSION VALVE</vt:lpstr>
      <vt:lpstr>HEATER / EVAPORATOR UNIT</vt:lpstr>
      <vt:lpstr>CONTROL PANEL</vt:lpstr>
      <vt:lpstr>HEATER VALVE</vt:lpstr>
      <vt:lpstr>FRESH AIR FILTERS</vt:lpstr>
      <vt:lpstr>RECIRCULATION FILTER</vt:lpstr>
      <vt:lpstr>EDT – ELECTRONIC DE-ICING THERMOSTAT</vt:lpstr>
      <vt:lpstr>PRESSURE RELIEF VALVE</vt:lpstr>
      <vt:lpstr>PRESSURE RELIEF VALVE</vt:lpstr>
      <vt:lpstr>PRESSURE RELIEF VALVE </vt:lpstr>
      <vt:lpstr>EVAPORATOR / HEATER COVER </vt:lpstr>
    </vt:vector>
  </TitlesOfParts>
  <Company>Edison Community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TOSHIBA USER</dc:creator>
  <cp:keywords>21;#HVAC|cd53b3d5-bb39-40b6-8ced-538a96eb3a82</cp:keywords>
  <cp:lastModifiedBy>Brian McFarland</cp:lastModifiedBy>
  <cp:revision>126</cp:revision>
  <dcterms:created xsi:type="dcterms:W3CDTF">2011-01-08T14:26:22Z</dcterms:created>
  <dcterms:modified xsi:type="dcterms:W3CDTF">2018-07-11T11:12:54Z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0x010100BAA5A8AEA7BEFD429155B4F4F35992AF</vt:lpwstr>
  </property>
  <property fmtid="{D5CDD505-2E9C-101B-9397-08002B2CF9AE}" pid="3" name="Order">
    <vt:r8>907400</vt:r8>
  </property>
  <property fmtid="{D5CDD505-2E9C-101B-9397-08002B2CF9AE}" pid="4" name="_ColorTag">
    <vt:lpwstr/>
  </property>
  <property fmtid="{D5CDD505-2E9C-101B-9397-08002B2CF9AE}" pid="5" name="_ExtendedDescription">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_ColorHex">
    <vt:lpwstr/>
  </property>
  <property fmtid="{D5CDD505-2E9C-101B-9397-08002B2CF9AE}" pid="10" name="_Emoji">
    <vt:lpwstr/>
  </property>
  <property fmtid="{D5CDD505-2E9C-101B-9397-08002B2CF9AE}" pid="11" name="ComplianceAssetId">
    <vt:lpwstr/>
  </property>
  <property fmtid="{D5CDD505-2E9C-101B-9397-08002B2CF9AE}" pid="12" name="MediaServiceImageTags">
    <vt:lpwstr/>
  </property>
  <property fmtid="{D5CDD505-2E9C-101B-9397-08002B2CF9AE}" pid="13" name="xd_ProgID">
    <vt:lpwstr/>
  </property>
  <property fmtid="{D5CDD505-2E9C-101B-9397-08002B2CF9AE}" pid="14" name="TemplateUrl">
    <vt:lpwstr/>
  </property>
  <property fmtid="{D5CDD505-2E9C-101B-9397-08002B2CF9AE}" pid="15" name="c96017a53ddc4930b18d313f6151eb39">
    <vt:lpwstr>HVAC|cd53b3d5-bb39-40b6-8ced-538a96eb3a82</vt:lpwstr>
  </property>
  <property fmtid="{D5CDD505-2E9C-101B-9397-08002B2CF9AE}" pid="16" name="xd_Signature">
    <vt:bool>false</vt:bool>
  </property>
</Properties>
</file>
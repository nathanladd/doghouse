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9.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0.xml" ContentType="application/vnd.openxmlformats-officedocument.presentationml.slideLayout+xml"/>
  <Override PartName="/ppt/notesSlides/notesSlide2.xml" ContentType="application/vnd.openxmlformats-officedocument.presentationml.notesSlide+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474" r:id="rId2"/>
    <p:sldId id="314" r:id="rId3"/>
    <p:sldId id="446" r:id="rId4"/>
    <p:sldId id="431" r:id="rId5"/>
    <p:sldId id="478" r:id="rId6"/>
    <p:sldId id="479" r:id="rId7"/>
    <p:sldId id="480" r:id="rId8"/>
    <p:sldId id="481" r:id="rId9"/>
    <p:sldId id="471" r:id="rId10"/>
    <p:sldId id="482" r:id="rId11"/>
    <p:sldId id="483" r:id="rId12"/>
    <p:sldId id="484" r:id="rId13"/>
    <p:sldId id="48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1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28" autoAdjust="0"/>
  </p:normalViewPr>
  <p:slideViewPr>
    <p:cSldViewPr>
      <p:cViewPr>
        <p:scale>
          <a:sx n="50" d="100"/>
          <a:sy n="50" d="100"/>
        </p:scale>
        <p:origin x="-1944" y="-60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60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F17EEF-E07D-417B-9844-E5020ABA3B4C}" type="datetimeFigureOut">
              <a:rPr lang="en-US" smtClean="0"/>
              <a:pPr/>
              <a:t>5/24/2018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0DA2CF-E459-4D24-AF27-AB276913243E}" type="slidenum">
              <a:rPr lang="en-US" smtClean="0"/>
              <a:pPr/>
              <a:t>‹#›</a:t>
            </a:fld>
            <a:endParaRPr lang="en-US"/>
          </a:p>
        </p:txBody>
      </p:sp>
    </p:spTree>
    <p:extLst>
      <p:ext uri="{BB962C8B-B14F-4D97-AF65-F5344CB8AC3E}">
        <p14:creationId xmlns:p14="http://schemas.microsoft.com/office/powerpoint/2010/main" val="1472750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t>Like any other system on equipment, there are always safety concerns. Always remove bucket or attachment, raise and support machine, install proper lift arm support.</a:t>
            </a:r>
          </a:p>
          <a:p>
            <a:endParaRPr lang="en-US" dirty="0"/>
          </a:p>
        </p:txBody>
      </p:sp>
      <p:sp>
        <p:nvSpPr>
          <p:cNvPr id="4" name="Slide Number Placeholder 3"/>
          <p:cNvSpPr>
            <a:spLocks noGrp="1"/>
          </p:cNvSpPr>
          <p:nvPr>
            <p:ph type="sldNum" sz="quarter" idx="10"/>
          </p:nvPr>
        </p:nvSpPr>
        <p:spPr/>
        <p:txBody>
          <a:bodyPr/>
          <a:lstStyle/>
          <a:p>
            <a:fld id="{FF0DA2CF-E459-4D24-AF27-AB276913243E}" type="slidenum">
              <a:rPr lang="en-US" smtClean="0"/>
              <a:pPr/>
              <a:t>2</a:t>
            </a:fld>
            <a:endParaRPr lang="en-US"/>
          </a:p>
        </p:txBody>
      </p:sp>
    </p:spTree>
    <p:extLst>
      <p:ext uri="{BB962C8B-B14F-4D97-AF65-F5344CB8AC3E}">
        <p14:creationId xmlns:p14="http://schemas.microsoft.com/office/powerpoint/2010/main" val="3601147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p:spPr>
        <p:txBody>
          <a:bodyPr/>
          <a:lstStyle/>
          <a:p>
            <a:pPr eaLnBrk="1" hangingPunct="1"/>
            <a:r>
              <a:rPr lang="en-US" altLang="en-US" smtClean="0"/>
              <a:t>Boiling point of R134a is -15.34° F. </a:t>
            </a:r>
          </a:p>
          <a:p>
            <a:pPr eaLnBrk="1" hangingPunct="1"/>
            <a:r>
              <a:rPr lang="en-US" altLang="en-US" smtClean="0"/>
              <a:t>Boiling point of R12 is -21.64° F.</a:t>
            </a:r>
          </a:p>
        </p:txBody>
      </p:sp>
      <p:sp>
        <p:nvSpPr>
          <p:cNvPr id="184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charset="0"/>
              </a:defRPr>
            </a:lvl1pPr>
            <a:lvl2pPr marL="742950" indent="-285750" eaLnBrk="0" hangingPunct="0">
              <a:spcBef>
                <a:spcPct val="30000"/>
              </a:spcBef>
              <a:defRPr sz="1200">
                <a:solidFill>
                  <a:schemeClr val="tx1"/>
                </a:solidFill>
                <a:latin typeface="Times New Roman" charset="0"/>
              </a:defRPr>
            </a:lvl2pPr>
            <a:lvl3pPr marL="1143000" indent="-228600" eaLnBrk="0" hangingPunct="0">
              <a:spcBef>
                <a:spcPct val="30000"/>
              </a:spcBef>
              <a:defRPr sz="1200">
                <a:solidFill>
                  <a:schemeClr val="tx1"/>
                </a:solidFill>
                <a:latin typeface="Times New Roman" charset="0"/>
              </a:defRPr>
            </a:lvl3pPr>
            <a:lvl4pPr marL="1600200" indent="-228600" eaLnBrk="0" hangingPunct="0">
              <a:spcBef>
                <a:spcPct val="30000"/>
              </a:spcBef>
              <a:defRPr sz="1200">
                <a:solidFill>
                  <a:schemeClr val="tx1"/>
                </a:solidFill>
                <a:latin typeface="Times New Roman" charset="0"/>
              </a:defRPr>
            </a:lvl4pPr>
            <a:lvl5pPr marL="2057400" indent="-228600" eaLnBrk="0" hangingPunct="0">
              <a:spcBef>
                <a:spcPct val="30000"/>
              </a:spcBef>
              <a:defRPr sz="1200">
                <a:solidFill>
                  <a:schemeClr val="tx1"/>
                </a:solidFill>
                <a:latin typeface="Times New Roman" charset="0"/>
              </a:defRPr>
            </a:lvl5pPr>
            <a:lvl6pPr marL="2514600" indent="-228600" eaLnBrk="0" fontAlgn="base" hangingPunct="0">
              <a:spcBef>
                <a:spcPct val="30000"/>
              </a:spcBef>
              <a:spcAft>
                <a:spcPct val="0"/>
              </a:spcAft>
              <a:defRPr sz="1200">
                <a:solidFill>
                  <a:schemeClr val="tx1"/>
                </a:solidFill>
                <a:latin typeface="Times New Roman" charset="0"/>
              </a:defRPr>
            </a:lvl6pPr>
            <a:lvl7pPr marL="2971800" indent="-228600" eaLnBrk="0" fontAlgn="base" hangingPunct="0">
              <a:spcBef>
                <a:spcPct val="30000"/>
              </a:spcBef>
              <a:spcAft>
                <a:spcPct val="0"/>
              </a:spcAft>
              <a:defRPr sz="1200">
                <a:solidFill>
                  <a:schemeClr val="tx1"/>
                </a:solidFill>
                <a:latin typeface="Times New Roman" charset="0"/>
              </a:defRPr>
            </a:lvl7pPr>
            <a:lvl8pPr marL="3429000" indent="-228600" eaLnBrk="0" fontAlgn="base" hangingPunct="0">
              <a:spcBef>
                <a:spcPct val="30000"/>
              </a:spcBef>
              <a:spcAft>
                <a:spcPct val="0"/>
              </a:spcAft>
              <a:defRPr sz="1200">
                <a:solidFill>
                  <a:schemeClr val="tx1"/>
                </a:solidFill>
                <a:latin typeface="Times New Roman" charset="0"/>
              </a:defRPr>
            </a:lvl8pPr>
            <a:lvl9pPr marL="3886200" indent="-228600" eaLnBrk="0" fontAlgn="base" hangingPunct="0">
              <a:spcBef>
                <a:spcPct val="30000"/>
              </a:spcBef>
              <a:spcAft>
                <a:spcPct val="0"/>
              </a:spcAft>
              <a:defRPr sz="1200">
                <a:solidFill>
                  <a:schemeClr val="tx1"/>
                </a:solidFill>
                <a:latin typeface="Times New Roman" charset="0"/>
              </a:defRPr>
            </a:lvl9pPr>
          </a:lstStyle>
          <a:p>
            <a:pPr eaLnBrk="1" hangingPunct="1">
              <a:spcBef>
                <a:spcPct val="0"/>
              </a:spcBef>
            </a:pPr>
            <a:fld id="{275D561B-5FD7-438F-B32A-C0BC5272B2B1}" type="slidenum">
              <a:rPr lang="en-US" altLang="en-US" smtClean="0">
                <a:latin typeface="Tahoma" pitchFamily="34" charset="0"/>
              </a:rPr>
              <a:pPr eaLnBrk="1" hangingPunct="1">
                <a:spcBef>
                  <a:spcPct val="0"/>
                </a:spcBef>
              </a:pPr>
              <a:t>6</a:t>
            </a:fld>
            <a:endParaRPr lang="en-US" altLang="en-US" smtClean="0">
              <a:latin typeface="Tahoma"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p:spPr>
        <p:txBody>
          <a:bodyPr/>
          <a:lstStyle/>
          <a:p>
            <a:r>
              <a:rPr lang="en-US" altLang="en-US" smtClean="0"/>
              <a:t>Work in well ventilated areas.</a:t>
            </a:r>
          </a:p>
        </p:txBody>
      </p:sp>
      <p:sp>
        <p:nvSpPr>
          <p:cNvPr id="1946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charset="0"/>
              </a:defRPr>
            </a:lvl1pPr>
            <a:lvl2pPr marL="742950" indent="-285750" eaLnBrk="0" hangingPunct="0">
              <a:spcBef>
                <a:spcPct val="30000"/>
              </a:spcBef>
              <a:defRPr sz="1200">
                <a:solidFill>
                  <a:schemeClr val="tx1"/>
                </a:solidFill>
                <a:latin typeface="Times New Roman" charset="0"/>
              </a:defRPr>
            </a:lvl2pPr>
            <a:lvl3pPr marL="1143000" indent="-228600" eaLnBrk="0" hangingPunct="0">
              <a:spcBef>
                <a:spcPct val="30000"/>
              </a:spcBef>
              <a:defRPr sz="1200">
                <a:solidFill>
                  <a:schemeClr val="tx1"/>
                </a:solidFill>
                <a:latin typeface="Times New Roman" charset="0"/>
              </a:defRPr>
            </a:lvl3pPr>
            <a:lvl4pPr marL="1600200" indent="-228600" eaLnBrk="0" hangingPunct="0">
              <a:spcBef>
                <a:spcPct val="30000"/>
              </a:spcBef>
              <a:defRPr sz="1200">
                <a:solidFill>
                  <a:schemeClr val="tx1"/>
                </a:solidFill>
                <a:latin typeface="Times New Roman" charset="0"/>
              </a:defRPr>
            </a:lvl4pPr>
            <a:lvl5pPr marL="2057400" indent="-228600" eaLnBrk="0" hangingPunct="0">
              <a:spcBef>
                <a:spcPct val="30000"/>
              </a:spcBef>
              <a:defRPr sz="1200">
                <a:solidFill>
                  <a:schemeClr val="tx1"/>
                </a:solidFill>
                <a:latin typeface="Times New Roman" charset="0"/>
              </a:defRPr>
            </a:lvl5pPr>
            <a:lvl6pPr marL="2514600" indent="-228600" eaLnBrk="0" fontAlgn="base" hangingPunct="0">
              <a:spcBef>
                <a:spcPct val="30000"/>
              </a:spcBef>
              <a:spcAft>
                <a:spcPct val="0"/>
              </a:spcAft>
              <a:defRPr sz="1200">
                <a:solidFill>
                  <a:schemeClr val="tx1"/>
                </a:solidFill>
                <a:latin typeface="Times New Roman" charset="0"/>
              </a:defRPr>
            </a:lvl6pPr>
            <a:lvl7pPr marL="2971800" indent="-228600" eaLnBrk="0" fontAlgn="base" hangingPunct="0">
              <a:spcBef>
                <a:spcPct val="30000"/>
              </a:spcBef>
              <a:spcAft>
                <a:spcPct val="0"/>
              </a:spcAft>
              <a:defRPr sz="1200">
                <a:solidFill>
                  <a:schemeClr val="tx1"/>
                </a:solidFill>
                <a:latin typeface="Times New Roman" charset="0"/>
              </a:defRPr>
            </a:lvl7pPr>
            <a:lvl8pPr marL="3429000" indent="-228600" eaLnBrk="0" fontAlgn="base" hangingPunct="0">
              <a:spcBef>
                <a:spcPct val="30000"/>
              </a:spcBef>
              <a:spcAft>
                <a:spcPct val="0"/>
              </a:spcAft>
              <a:defRPr sz="1200">
                <a:solidFill>
                  <a:schemeClr val="tx1"/>
                </a:solidFill>
                <a:latin typeface="Times New Roman" charset="0"/>
              </a:defRPr>
            </a:lvl8pPr>
            <a:lvl9pPr marL="3886200" indent="-228600" eaLnBrk="0" fontAlgn="base" hangingPunct="0">
              <a:spcBef>
                <a:spcPct val="30000"/>
              </a:spcBef>
              <a:spcAft>
                <a:spcPct val="0"/>
              </a:spcAft>
              <a:defRPr sz="1200">
                <a:solidFill>
                  <a:schemeClr val="tx1"/>
                </a:solidFill>
                <a:latin typeface="Times New Roman" charset="0"/>
              </a:defRPr>
            </a:lvl9pPr>
          </a:lstStyle>
          <a:p>
            <a:pPr eaLnBrk="1" hangingPunct="1">
              <a:spcBef>
                <a:spcPct val="0"/>
              </a:spcBef>
            </a:pPr>
            <a:fld id="{9ADADAAD-F33D-4BAF-BFA1-72CFCC6486DD}" type="slidenum">
              <a:rPr lang="en-US" altLang="en-US" smtClean="0">
                <a:latin typeface="Tahoma" pitchFamily="34" charset="0"/>
              </a:rPr>
              <a:pPr eaLnBrk="1" hangingPunct="1">
                <a:spcBef>
                  <a:spcPct val="0"/>
                </a:spcBef>
              </a:pPr>
              <a:t>7</a:t>
            </a:fld>
            <a:endParaRPr lang="en-US" altLang="en-US" smtClean="0">
              <a:latin typeface="Tahoma"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p:spPr>
        <p:txBody>
          <a:bodyPr/>
          <a:lstStyle/>
          <a:p>
            <a:r>
              <a:rPr lang="en-US" altLang="en-US" smtClean="0"/>
              <a:t>Do not expose refrigerant containers to excessive heat, do not store in direct sunlight. </a:t>
            </a:r>
          </a:p>
        </p:txBody>
      </p:sp>
      <p:sp>
        <p:nvSpPr>
          <p:cNvPr id="2048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charset="0"/>
              </a:defRPr>
            </a:lvl1pPr>
            <a:lvl2pPr marL="742950" indent="-285750" eaLnBrk="0" hangingPunct="0">
              <a:spcBef>
                <a:spcPct val="30000"/>
              </a:spcBef>
              <a:defRPr sz="1200">
                <a:solidFill>
                  <a:schemeClr val="tx1"/>
                </a:solidFill>
                <a:latin typeface="Times New Roman" charset="0"/>
              </a:defRPr>
            </a:lvl2pPr>
            <a:lvl3pPr marL="1143000" indent="-228600" eaLnBrk="0" hangingPunct="0">
              <a:spcBef>
                <a:spcPct val="30000"/>
              </a:spcBef>
              <a:defRPr sz="1200">
                <a:solidFill>
                  <a:schemeClr val="tx1"/>
                </a:solidFill>
                <a:latin typeface="Times New Roman" charset="0"/>
              </a:defRPr>
            </a:lvl3pPr>
            <a:lvl4pPr marL="1600200" indent="-228600" eaLnBrk="0" hangingPunct="0">
              <a:spcBef>
                <a:spcPct val="30000"/>
              </a:spcBef>
              <a:defRPr sz="1200">
                <a:solidFill>
                  <a:schemeClr val="tx1"/>
                </a:solidFill>
                <a:latin typeface="Times New Roman" charset="0"/>
              </a:defRPr>
            </a:lvl4pPr>
            <a:lvl5pPr marL="2057400" indent="-228600" eaLnBrk="0" hangingPunct="0">
              <a:spcBef>
                <a:spcPct val="30000"/>
              </a:spcBef>
              <a:defRPr sz="1200">
                <a:solidFill>
                  <a:schemeClr val="tx1"/>
                </a:solidFill>
                <a:latin typeface="Times New Roman" charset="0"/>
              </a:defRPr>
            </a:lvl5pPr>
            <a:lvl6pPr marL="2514600" indent="-228600" eaLnBrk="0" fontAlgn="base" hangingPunct="0">
              <a:spcBef>
                <a:spcPct val="30000"/>
              </a:spcBef>
              <a:spcAft>
                <a:spcPct val="0"/>
              </a:spcAft>
              <a:defRPr sz="1200">
                <a:solidFill>
                  <a:schemeClr val="tx1"/>
                </a:solidFill>
                <a:latin typeface="Times New Roman" charset="0"/>
              </a:defRPr>
            </a:lvl6pPr>
            <a:lvl7pPr marL="2971800" indent="-228600" eaLnBrk="0" fontAlgn="base" hangingPunct="0">
              <a:spcBef>
                <a:spcPct val="30000"/>
              </a:spcBef>
              <a:spcAft>
                <a:spcPct val="0"/>
              </a:spcAft>
              <a:defRPr sz="1200">
                <a:solidFill>
                  <a:schemeClr val="tx1"/>
                </a:solidFill>
                <a:latin typeface="Times New Roman" charset="0"/>
              </a:defRPr>
            </a:lvl7pPr>
            <a:lvl8pPr marL="3429000" indent="-228600" eaLnBrk="0" fontAlgn="base" hangingPunct="0">
              <a:spcBef>
                <a:spcPct val="30000"/>
              </a:spcBef>
              <a:spcAft>
                <a:spcPct val="0"/>
              </a:spcAft>
              <a:defRPr sz="1200">
                <a:solidFill>
                  <a:schemeClr val="tx1"/>
                </a:solidFill>
                <a:latin typeface="Times New Roman" charset="0"/>
              </a:defRPr>
            </a:lvl8pPr>
            <a:lvl9pPr marL="3886200" indent="-228600" eaLnBrk="0" fontAlgn="base" hangingPunct="0">
              <a:spcBef>
                <a:spcPct val="30000"/>
              </a:spcBef>
              <a:spcAft>
                <a:spcPct val="0"/>
              </a:spcAft>
              <a:defRPr sz="1200">
                <a:solidFill>
                  <a:schemeClr val="tx1"/>
                </a:solidFill>
                <a:latin typeface="Times New Roman" charset="0"/>
              </a:defRPr>
            </a:lvl9pPr>
          </a:lstStyle>
          <a:p>
            <a:pPr eaLnBrk="1" hangingPunct="1">
              <a:spcBef>
                <a:spcPct val="0"/>
              </a:spcBef>
            </a:pPr>
            <a:fld id="{C28B6686-450E-4352-9A4C-79DBC4F0300A}" type="slidenum">
              <a:rPr lang="en-US" altLang="en-US" smtClean="0">
                <a:latin typeface="Tahoma" pitchFamily="34" charset="0"/>
              </a:rPr>
              <a:pPr eaLnBrk="1" hangingPunct="1">
                <a:spcBef>
                  <a:spcPct val="0"/>
                </a:spcBef>
              </a:pPr>
              <a:t>8</a:t>
            </a:fld>
            <a:endParaRPr lang="en-US" altLang="en-US" smtClean="0">
              <a:latin typeface="Tahoma"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p:spPr>
        <p:txBody>
          <a:bodyPr/>
          <a:lstStyle/>
          <a:p>
            <a:r>
              <a:rPr lang="en-US" altLang="en-US" dirty="0" smtClean="0"/>
              <a:t>One of the dangers of R12</a:t>
            </a:r>
          </a:p>
        </p:txBody>
      </p:sp>
      <p:sp>
        <p:nvSpPr>
          <p:cNvPr id="2150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charset="0"/>
              </a:defRPr>
            </a:lvl1pPr>
            <a:lvl2pPr marL="742950" indent="-285750" eaLnBrk="0" hangingPunct="0">
              <a:spcBef>
                <a:spcPct val="30000"/>
              </a:spcBef>
              <a:defRPr sz="1200">
                <a:solidFill>
                  <a:schemeClr val="tx1"/>
                </a:solidFill>
                <a:latin typeface="Times New Roman" charset="0"/>
              </a:defRPr>
            </a:lvl2pPr>
            <a:lvl3pPr marL="1143000" indent="-228600" eaLnBrk="0" hangingPunct="0">
              <a:spcBef>
                <a:spcPct val="30000"/>
              </a:spcBef>
              <a:defRPr sz="1200">
                <a:solidFill>
                  <a:schemeClr val="tx1"/>
                </a:solidFill>
                <a:latin typeface="Times New Roman" charset="0"/>
              </a:defRPr>
            </a:lvl3pPr>
            <a:lvl4pPr marL="1600200" indent="-228600" eaLnBrk="0" hangingPunct="0">
              <a:spcBef>
                <a:spcPct val="30000"/>
              </a:spcBef>
              <a:defRPr sz="1200">
                <a:solidFill>
                  <a:schemeClr val="tx1"/>
                </a:solidFill>
                <a:latin typeface="Times New Roman" charset="0"/>
              </a:defRPr>
            </a:lvl4pPr>
            <a:lvl5pPr marL="2057400" indent="-228600" eaLnBrk="0" hangingPunct="0">
              <a:spcBef>
                <a:spcPct val="30000"/>
              </a:spcBef>
              <a:defRPr sz="1200">
                <a:solidFill>
                  <a:schemeClr val="tx1"/>
                </a:solidFill>
                <a:latin typeface="Times New Roman" charset="0"/>
              </a:defRPr>
            </a:lvl5pPr>
            <a:lvl6pPr marL="2514600" indent="-228600" eaLnBrk="0" fontAlgn="base" hangingPunct="0">
              <a:spcBef>
                <a:spcPct val="30000"/>
              </a:spcBef>
              <a:spcAft>
                <a:spcPct val="0"/>
              </a:spcAft>
              <a:defRPr sz="1200">
                <a:solidFill>
                  <a:schemeClr val="tx1"/>
                </a:solidFill>
                <a:latin typeface="Times New Roman" charset="0"/>
              </a:defRPr>
            </a:lvl6pPr>
            <a:lvl7pPr marL="2971800" indent="-228600" eaLnBrk="0" fontAlgn="base" hangingPunct="0">
              <a:spcBef>
                <a:spcPct val="30000"/>
              </a:spcBef>
              <a:spcAft>
                <a:spcPct val="0"/>
              </a:spcAft>
              <a:defRPr sz="1200">
                <a:solidFill>
                  <a:schemeClr val="tx1"/>
                </a:solidFill>
                <a:latin typeface="Times New Roman" charset="0"/>
              </a:defRPr>
            </a:lvl7pPr>
            <a:lvl8pPr marL="3429000" indent="-228600" eaLnBrk="0" fontAlgn="base" hangingPunct="0">
              <a:spcBef>
                <a:spcPct val="30000"/>
              </a:spcBef>
              <a:spcAft>
                <a:spcPct val="0"/>
              </a:spcAft>
              <a:defRPr sz="1200">
                <a:solidFill>
                  <a:schemeClr val="tx1"/>
                </a:solidFill>
                <a:latin typeface="Times New Roman" charset="0"/>
              </a:defRPr>
            </a:lvl8pPr>
            <a:lvl9pPr marL="3886200" indent="-228600" eaLnBrk="0" fontAlgn="base" hangingPunct="0">
              <a:spcBef>
                <a:spcPct val="30000"/>
              </a:spcBef>
              <a:spcAft>
                <a:spcPct val="0"/>
              </a:spcAft>
              <a:defRPr sz="1200">
                <a:solidFill>
                  <a:schemeClr val="tx1"/>
                </a:solidFill>
                <a:latin typeface="Times New Roman" charset="0"/>
              </a:defRPr>
            </a:lvl9pPr>
          </a:lstStyle>
          <a:p>
            <a:pPr eaLnBrk="1" hangingPunct="1">
              <a:spcBef>
                <a:spcPct val="0"/>
              </a:spcBef>
            </a:pPr>
            <a:fld id="{012B6A65-79B9-45BE-9289-61EFCB6C89C0}" type="slidenum">
              <a:rPr lang="en-US" altLang="en-US" smtClean="0">
                <a:latin typeface="Tahoma" pitchFamily="34" charset="0"/>
              </a:rPr>
              <a:pPr eaLnBrk="1" hangingPunct="1">
                <a:spcBef>
                  <a:spcPct val="0"/>
                </a:spcBef>
              </a:pPr>
              <a:t>10</a:t>
            </a:fld>
            <a:endParaRPr lang="en-US" altLang="en-US" smtClean="0">
              <a:latin typeface="Tahoma"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5" name="Line 6"/>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6" name="Picture 13" descr="bobcat_logo_blk"/>
          <p:cNvPicPr>
            <a:picLocks noChangeAspect="1" noChangeArrowheads="1"/>
          </p:cNvPicPr>
          <p:nvPr/>
        </p:nvPicPr>
        <p:blipFill>
          <a:blip r:embed="rId2" cstate="print"/>
          <a:srcRect/>
          <a:stretch>
            <a:fillRect/>
          </a:stretch>
        </p:blipFill>
        <p:spPr bwMode="auto">
          <a:xfrm>
            <a:off x="517634" y="0"/>
            <a:ext cx="3143250" cy="1114425"/>
          </a:xfrm>
          <a:prstGeom prst="rect">
            <a:avLst/>
          </a:prstGeom>
          <a:noFill/>
          <a:ln w="9525">
            <a:noFill/>
            <a:miter lim="800000"/>
            <a:headEnd/>
            <a:tailEnd/>
          </a:ln>
        </p:spPr>
      </p:pic>
      <p:sp>
        <p:nvSpPr>
          <p:cNvPr id="1752075" name="Rectangle 11"/>
          <p:cNvSpPr>
            <a:spLocks noGrp="1" noChangeArrowheads="1"/>
          </p:cNvSpPr>
          <p:nvPr>
            <p:ph type="ctrTitle" sz="quarter"/>
          </p:nvPr>
        </p:nvSpPr>
        <p:spPr>
          <a:xfrm>
            <a:off x="685800" y="2130425"/>
            <a:ext cx="7772400" cy="1470025"/>
          </a:xfrm>
          <a:effectLst/>
        </p:spPr>
        <p:txBody>
          <a:bodyPr anchor="ctr"/>
          <a:lstStyle>
            <a:lvl1pPr algn="ctr">
              <a:defRPr sz="4000"/>
            </a:lvl1pPr>
          </a:lstStyle>
          <a:p>
            <a:r>
              <a:rPr lang="en-US" smtClean="0"/>
              <a:t>Click to edit Master title style</a:t>
            </a:r>
            <a:endParaRPr lang="en-US"/>
          </a:p>
        </p:txBody>
      </p:sp>
      <p:sp>
        <p:nvSpPr>
          <p:cNvPr id="1752076" name="Rectangle 12"/>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smtClean="0"/>
              <a:t>Click to edit Master subtitle style</a:t>
            </a:r>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990600" y="1043153"/>
            <a:ext cx="81534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152400"/>
            <a:ext cx="203835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52400"/>
            <a:ext cx="596265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838700" y="12954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838700" y="38862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96988" y="2019300"/>
            <a:ext cx="3579812"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29200" y="2019300"/>
            <a:ext cx="3579813" cy="2205038"/>
          </a:xfrm>
        </p:spPr>
        <p:txBody>
          <a:bodyPr/>
          <a:lstStyle/>
          <a:p>
            <a:pPr lvl="0"/>
            <a:r>
              <a:rPr lang="en-US" noProof="0" smtClean="0"/>
              <a:t>Click icon to add clip art</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296988" y="2019300"/>
            <a:ext cx="3579812" cy="2205038"/>
          </a:xfrm>
        </p:spPr>
        <p:txBody>
          <a:bodyPr/>
          <a:lstStyle/>
          <a:p>
            <a:pPr lvl="0"/>
            <a:r>
              <a:rPr lang="en-US" noProof="0" smtClean="0"/>
              <a:t>Click icon to add clip art</a:t>
            </a:r>
            <a:endParaRPr lang="en-US" noProof="0"/>
          </a:p>
        </p:txBody>
      </p:sp>
      <p:sp>
        <p:nvSpPr>
          <p:cNvPr id="4" name="Text Placeholder 3"/>
          <p:cNvSpPr>
            <a:spLocks noGrp="1"/>
          </p:cNvSpPr>
          <p:nvPr>
            <p:ph type="body" sz="half" idx="2"/>
          </p:nvPr>
        </p:nvSpPr>
        <p:spPr>
          <a:xfrm>
            <a:off x="5029200" y="2019300"/>
            <a:ext cx="3579813"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3619500"/>
            <a:ext cx="8229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r>
              <a:rPr lang="en-US" noProof="0" smtClean="0"/>
              <a:t>Click icon to add table</a:t>
            </a:r>
            <a:endParaRPr lang="en-US" noProof="0"/>
          </a:p>
        </p:txBody>
      </p:sp>
      <p:sp>
        <p:nvSpPr>
          <p:cNvPr id="4" name="Slide Number Placeholder 3"/>
          <p:cNvSpPr>
            <a:spLocks noGrp="1"/>
          </p:cNvSpPr>
          <p:nvPr>
            <p:ph type="sldNum" sz="quarter" idx="10"/>
          </p:nvPr>
        </p:nvSpPr>
        <p:spPr>
          <a:xfrm>
            <a:off x="6553200" y="61722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8229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7251" name="Rectangle 3"/>
          <p:cNvSpPr>
            <a:spLocks noGrp="1" noChangeArrowheads="1"/>
          </p:cNvSpPr>
          <p:nvPr>
            <p:ph type="title"/>
          </p:nvPr>
        </p:nvSpPr>
        <p:spPr bwMode="auto">
          <a:xfrm>
            <a:off x="700088" y="152400"/>
            <a:ext cx="8118475" cy="838200"/>
          </a:xfrm>
          <a:prstGeom prst="rect">
            <a:avLst/>
          </a:prstGeom>
          <a:noFill/>
          <a:ln w="9525">
            <a:noFill/>
            <a:miter lim="800000"/>
            <a:headEnd/>
            <a:tailEnd/>
          </a:ln>
          <a:effectLst>
            <a:outerShdw dist="12700" dir="5400000" algn="ctr" rotWithShape="0">
              <a:schemeClr val="tx1"/>
            </a:outerShdw>
          </a:effec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9699" name="Rectangle 4"/>
          <p:cNvSpPr>
            <a:spLocks noGrp="1" noChangeArrowheads="1"/>
          </p:cNvSpPr>
          <p:nvPr>
            <p:ph type="body" idx="1"/>
          </p:nvPr>
        </p:nvSpPr>
        <p:spPr bwMode="auto">
          <a:xfrm>
            <a:off x="685800" y="1295400"/>
            <a:ext cx="81534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717254" name="Rectangle 6"/>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1717255" name="Line 7"/>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29702" name="Picture 10" descr="bobcat_logo_blk"/>
          <p:cNvPicPr>
            <a:picLocks noChangeAspect="1" noChangeArrowheads="1"/>
          </p:cNvPicPr>
          <p:nvPr/>
        </p:nvPicPr>
        <p:blipFill>
          <a:blip r:embed="rId25" cstate="print"/>
          <a:srcRect/>
          <a:stretch>
            <a:fillRect/>
          </a:stretch>
        </p:blipFill>
        <p:spPr bwMode="auto">
          <a:xfrm>
            <a:off x="762000" y="6262688"/>
            <a:ext cx="1665890" cy="595312"/>
          </a:xfrm>
          <a:prstGeom prst="rect">
            <a:avLst/>
          </a:prstGeom>
          <a:noFill/>
          <a:ln w="9525">
            <a:noFill/>
            <a:miter lim="800000"/>
            <a:headEnd/>
            <a:tailEnd/>
          </a:ln>
        </p:spPr>
      </p:pic>
      <p:sp>
        <p:nvSpPr>
          <p:cNvPr id="1717259" name="Rectangle 11"/>
          <p:cNvSpPr>
            <a:spLocks noGrp="1" noChangeArrowheads="1"/>
          </p:cNvSpPr>
          <p:nvPr>
            <p:ph type="sldNum" sz="quarter" idx="4"/>
          </p:nvPr>
        </p:nvSpPr>
        <p:spPr bwMode="auto">
          <a:xfrm>
            <a:off x="6629400" y="6477000"/>
            <a:ext cx="2133600" cy="24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charset="0"/>
              </a:defRPr>
            </a:lvl1pPr>
          </a:lstStyle>
          <a:p>
            <a:fld id="{2BC0F03C-F45D-4B4D-89C0-FE3468FE9F1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ransition/>
  <p:txStyles>
    <p:titleStyle>
      <a:lvl1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2pPr>
      <a:lvl3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3pPr>
      <a:lvl4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4pPr>
      <a:lvl5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5pPr>
      <a:lvl6pPr marL="4572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6pPr>
      <a:lvl7pPr marL="9144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7pPr>
      <a:lvl8pPr marL="13716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8pPr>
      <a:lvl9pPr marL="18288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oleObject" Target="../embeddings/oleObject2.bin"/><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p:txBody>
          <a:bodyPr/>
          <a:lstStyle/>
          <a:p>
            <a:pPr eaLnBrk="1" hangingPunct="1"/>
            <a:r>
              <a:rPr lang="en-US" altLang="en-US" smtClean="0"/>
              <a:t>A/C Safety Concerns</a:t>
            </a:r>
          </a:p>
        </p:txBody>
      </p:sp>
    </p:spTree>
    <p:extLst>
      <p:ext uri="{BB962C8B-B14F-4D97-AF65-F5344CB8AC3E}">
        <p14:creationId xmlns:p14="http://schemas.microsoft.com/office/powerpoint/2010/main" val="126895348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787400" y="381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r>
              <a:rPr lang="en-US" sz="3200" b="1" dirty="0">
                <a:effectLst>
                  <a:outerShdw blurRad="38100" dist="38100" dir="2700000" algn="tl">
                    <a:srgbClr val="C0C0C0"/>
                  </a:outerShdw>
                </a:effectLst>
                <a:latin typeface="+mj-lt"/>
                <a:ea typeface="Copperplate Gothic Bold" charset="0"/>
                <a:cs typeface="Copperplate Gothic Bold" charset="0"/>
                <a:sym typeface="Copperplate Gothic Bold" charset="0"/>
              </a:rPr>
              <a:t>Safety First</a:t>
            </a:r>
          </a:p>
        </p:txBody>
      </p:sp>
      <p:sp>
        <p:nvSpPr>
          <p:cNvPr id="4" name="Text Box 3"/>
          <p:cNvSpPr txBox="1">
            <a:spLocks noChangeArrowheads="1"/>
          </p:cNvSpPr>
          <p:nvPr/>
        </p:nvSpPr>
        <p:spPr bwMode="auto">
          <a:xfrm>
            <a:off x="914400" y="2339876"/>
            <a:ext cx="777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t>Like many other complex machines, A/C systems present several potential sources for injury. The wise technician is aware of these potential problems and is careful to prevent them from occurring. There are several areas for concerns: the refrigeration system, moving engine parts, and electrical systems.</a:t>
            </a:r>
          </a:p>
        </p:txBody>
      </p:sp>
    </p:spTree>
    <p:extLst>
      <p:ext uri="{BB962C8B-B14F-4D97-AF65-F5344CB8AC3E}">
        <p14:creationId xmlns:p14="http://schemas.microsoft.com/office/powerpoint/2010/main" val="2700632286"/>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1828800" y="-1524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b="1" dirty="0">
              <a:solidFill>
                <a:srgbClr val="AB220F"/>
              </a:solidFill>
              <a:effectLst>
                <a:outerShdw blurRad="38100" dist="38100" dir="2700000" algn="tl">
                  <a:srgbClr val="C0C0C0"/>
                </a:outerShdw>
              </a:effectLst>
              <a:latin typeface="+mj-lt"/>
              <a:ea typeface="Copperplate Gothic Bold" charset="0"/>
              <a:cs typeface="Copperplate Gothic Bold" charset="0"/>
              <a:sym typeface="Copperplate Gothic Bold" charset="0"/>
            </a:endParaRPr>
          </a:p>
        </p:txBody>
      </p:sp>
      <p:sp>
        <p:nvSpPr>
          <p:cNvPr id="5" name="Title 4"/>
          <p:cNvSpPr>
            <a:spLocks noGrp="1"/>
          </p:cNvSpPr>
          <p:nvPr>
            <p:ph type="title"/>
          </p:nvPr>
        </p:nvSpPr>
        <p:spPr/>
        <p:txBody>
          <a:bodyPr/>
          <a:lstStyle/>
          <a:p>
            <a:r>
              <a:rPr lang="en-US" dirty="0" smtClean="0"/>
              <a:t>Potential Hazards</a:t>
            </a:r>
            <a:endParaRPr lang="en-US" dirty="0"/>
          </a:p>
        </p:txBody>
      </p:sp>
      <p:sp>
        <p:nvSpPr>
          <p:cNvPr id="6" name="Content Placeholder 5"/>
          <p:cNvSpPr>
            <a:spLocks noGrp="1"/>
          </p:cNvSpPr>
          <p:nvPr>
            <p:ph sz="half" idx="1"/>
          </p:nvPr>
        </p:nvSpPr>
        <p:spPr>
          <a:xfrm>
            <a:off x="1143000" y="2133600"/>
            <a:ext cx="3657600" cy="3733800"/>
          </a:xfrm>
        </p:spPr>
        <p:txBody>
          <a:bodyPr/>
          <a:lstStyle/>
          <a:p>
            <a:r>
              <a:rPr lang="en-US" dirty="0" smtClean="0"/>
              <a:t>Pressurized Refrigerant</a:t>
            </a:r>
          </a:p>
          <a:p>
            <a:r>
              <a:rPr lang="en-US" dirty="0" smtClean="0"/>
              <a:t>Frostbite</a:t>
            </a:r>
          </a:p>
          <a:p>
            <a:r>
              <a:rPr lang="en-US" altLang="en-US" dirty="0" smtClean="0"/>
              <a:t>Asphyxiation</a:t>
            </a:r>
          </a:p>
          <a:p>
            <a:r>
              <a:rPr lang="en-US" altLang="en-US" dirty="0" smtClean="0"/>
              <a:t>Flammable Refrigerant</a:t>
            </a:r>
          </a:p>
          <a:p>
            <a:pPr marL="0" indent="0">
              <a:buNone/>
            </a:pPr>
            <a:endParaRPr lang="en-US" altLang="en-US" dirty="0"/>
          </a:p>
          <a:p>
            <a:endParaRPr lang="en-US" altLang="en-US" dirty="0" smtClean="0"/>
          </a:p>
          <a:p>
            <a:endParaRPr lang="en-US" dirty="0"/>
          </a:p>
        </p:txBody>
      </p:sp>
      <p:sp>
        <p:nvSpPr>
          <p:cNvPr id="9" name="Content Placeholder 8"/>
          <p:cNvSpPr>
            <a:spLocks noGrp="1"/>
          </p:cNvSpPr>
          <p:nvPr>
            <p:ph sz="half" idx="2"/>
          </p:nvPr>
        </p:nvSpPr>
        <p:spPr>
          <a:xfrm>
            <a:off x="4838700" y="2133600"/>
            <a:ext cx="4076700" cy="2819400"/>
          </a:xfrm>
        </p:spPr>
        <p:txBody>
          <a:bodyPr/>
          <a:lstStyle/>
          <a:p>
            <a:r>
              <a:rPr lang="en-US" altLang="en-US" dirty="0"/>
              <a:t>Exploding Container</a:t>
            </a:r>
          </a:p>
          <a:p>
            <a:r>
              <a:rPr lang="en-US" altLang="en-US" dirty="0"/>
              <a:t>Phosgene-like gas</a:t>
            </a:r>
          </a:p>
          <a:p>
            <a:r>
              <a:rPr lang="en-US" altLang="en-US" dirty="0"/>
              <a:t>Moving engine parts</a:t>
            </a:r>
          </a:p>
          <a:p>
            <a:r>
              <a:rPr lang="en-US" altLang="en-US" dirty="0"/>
              <a:t>Electrical </a:t>
            </a:r>
            <a:r>
              <a:rPr lang="en-US" altLang="en-US" dirty="0" smtClean="0"/>
              <a:t>circuits</a:t>
            </a:r>
            <a:endParaRPr lang="en-US" altLang="en-US" dirty="0"/>
          </a:p>
        </p:txBody>
      </p:sp>
    </p:spTree>
    <p:extLst>
      <p:ext uri="{BB962C8B-B14F-4D97-AF65-F5344CB8AC3E}">
        <p14:creationId xmlns:p14="http://schemas.microsoft.com/office/powerpoint/2010/main" val="304477014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4" name="Title 3"/>
          <p:cNvSpPr>
            <a:spLocks noGrp="1"/>
          </p:cNvSpPr>
          <p:nvPr>
            <p:ph type="title"/>
          </p:nvPr>
        </p:nvSpPr>
        <p:spPr/>
        <p:txBody>
          <a:bodyPr/>
          <a:lstStyle/>
          <a:p>
            <a:r>
              <a:rPr lang="en-US" dirty="0" smtClean="0"/>
              <a:t>Personal Protective Equipment</a:t>
            </a:r>
            <a:endParaRPr lang="en-US" dirty="0"/>
          </a:p>
        </p:txBody>
      </p:sp>
      <p:sp>
        <p:nvSpPr>
          <p:cNvPr id="5" name="Content Placeholder 4"/>
          <p:cNvSpPr>
            <a:spLocks noGrp="1"/>
          </p:cNvSpPr>
          <p:nvPr>
            <p:ph sz="half" idx="1"/>
          </p:nvPr>
        </p:nvSpPr>
        <p:spPr>
          <a:xfrm>
            <a:off x="685800" y="1295400"/>
            <a:ext cx="8229600" cy="1371600"/>
          </a:xfrm>
        </p:spPr>
        <p:txBody>
          <a:bodyPr/>
          <a:lstStyle/>
          <a:p>
            <a:pPr marL="0" indent="0">
              <a:buNone/>
            </a:pPr>
            <a:r>
              <a:rPr lang="en-US" altLang="en-US" dirty="0"/>
              <a:t>A wise technician wears eye and hand protection while performing service or repairs on an A/C system</a:t>
            </a:r>
            <a:r>
              <a:rPr lang="en-US" altLang="en-US" dirty="0" smtClean="0"/>
              <a:t>. R134A boiling point is -15°F.</a:t>
            </a:r>
            <a:endParaRPr lang="en-US" altLang="en-US" dirty="0"/>
          </a:p>
          <a:p>
            <a:endParaRPr lang="en-US" dirty="0"/>
          </a:p>
        </p:txBody>
      </p:sp>
      <p:graphicFrame>
        <p:nvGraphicFramePr>
          <p:cNvPr id="2" name="Content Placeholder 1"/>
          <p:cNvGraphicFramePr>
            <a:graphicFrameLocks noGrp="1" noChangeAspect="1"/>
          </p:cNvGraphicFramePr>
          <p:nvPr>
            <p:ph sz="half" idx="2"/>
            <p:extLst>
              <p:ext uri="{D42A27DB-BD31-4B8C-83A1-F6EECF244321}">
                <p14:modId xmlns:p14="http://schemas.microsoft.com/office/powerpoint/2010/main" val="658669402"/>
              </p:ext>
            </p:extLst>
          </p:nvPr>
        </p:nvGraphicFramePr>
        <p:xfrm>
          <a:off x="5133305" y="2697480"/>
          <a:ext cx="3477296" cy="3703320"/>
        </p:xfrm>
        <a:graphic>
          <a:graphicData uri="http://schemas.openxmlformats.org/presentationml/2006/ole">
            <mc:AlternateContent xmlns:mc="http://schemas.openxmlformats.org/markup-compatibility/2006">
              <mc:Choice xmlns:v="urn:schemas-microsoft-com:vml" Requires="v">
                <p:oleObj spid="_x0000_s1058" name="Clip" r:id="rId3" imgW="1904762" imgH="2028571" progId="MS_ClipArt_Gallery.5">
                  <p:embed/>
                </p:oleObj>
              </mc:Choice>
              <mc:Fallback>
                <p:oleObj name="Clip" r:id="rId3" imgW="1904762" imgH="2028571" progId="MS_ClipArt_Gallery.5">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3305" y="2697480"/>
                        <a:ext cx="3477296" cy="3703320"/>
                      </a:xfrm>
                      <a:prstGeom prst="rect">
                        <a:avLst/>
                      </a:prstGeom>
                      <a:noFill/>
                      <a:ln>
                        <a:noFill/>
                      </a:ln>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809339255"/>
              </p:ext>
            </p:extLst>
          </p:nvPr>
        </p:nvGraphicFramePr>
        <p:xfrm>
          <a:off x="685800" y="2743200"/>
          <a:ext cx="3581400" cy="3581400"/>
        </p:xfrm>
        <a:graphic>
          <a:graphicData uri="http://schemas.openxmlformats.org/presentationml/2006/ole">
            <mc:AlternateContent xmlns:mc="http://schemas.openxmlformats.org/markup-compatibility/2006">
              <mc:Choice xmlns:v="urn:schemas-microsoft-com:vml" Requires="v">
                <p:oleObj spid="_x0000_s1059" name="Clip" r:id="rId5" imgW="1809524" imgH="1809524" progId="MS_ClipArt_Gallery.5">
                  <p:embed/>
                </p:oleObj>
              </mc:Choice>
              <mc:Fallback>
                <p:oleObj name="Clip" r:id="rId5" imgW="1809524" imgH="1809524" progId="MS_ClipArt_Gallery.5">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743200"/>
                        <a:ext cx="3581400" cy="35814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5487456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5CDC736A-F579-4404-8655-AC8B410862EA}" type="slidenum">
              <a:rPr lang="en-US" altLang="en-US" sz="1400" smtClean="0"/>
              <a:pPr eaLnBrk="1" hangingPunct="1">
                <a:spcBef>
                  <a:spcPct val="0"/>
                </a:spcBef>
                <a:buClrTx/>
                <a:buSzTx/>
                <a:buFontTx/>
                <a:buNone/>
              </a:pPr>
              <a:t>5</a:t>
            </a:fld>
            <a:endParaRPr lang="en-US" altLang="en-US" sz="1400" smtClean="0"/>
          </a:p>
        </p:txBody>
      </p:sp>
      <p:sp>
        <p:nvSpPr>
          <p:cNvPr id="7171" name="Rectangle 2"/>
          <p:cNvSpPr>
            <a:spLocks noGrp="1" noChangeArrowheads="1"/>
          </p:cNvSpPr>
          <p:nvPr>
            <p:ph type="title"/>
          </p:nvPr>
        </p:nvSpPr>
        <p:spPr/>
        <p:txBody>
          <a:bodyPr/>
          <a:lstStyle/>
          <a:p>
            <a:pPr eaLnBrk="1" hangingPunct="1"/>
            <a:r>
              <a:rPr lang="en-US" altLang="en-US" smtClean="0"/>
              <a:t>Liquid R-12 &amp; R-134a</a:t>
            </a:r>
          </a:p>
        </p:txBody>
      </p:sp>
      <p:sp>
        <p:nvSpPr>
          <p:cNvPr id="7172" name="Text Box 3"/>
          <p:cNvSpPr txBox="1">
            <a:spLocks noChangeArrowheads="1"/>
          </p:cNvSpPr>
          <p:nvPr/>
        </p:nvSpPr>
        <p:spPr bwMode="auto">
          <a:xfrm>
            <a:off x="609600" y="2286000"/>
            <a:ext cx="38862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dirty="0"/>
              <a:t>Refrigerant pressure is directly related to its temperature, and this pressure is trying to escape from a system. It can drive oil or dirt particles into eyes and skin, and it tries to blow system components apart.</a:t>
            </a:r>
          </a:p>
        </p:txBody>
      </p:sp>
      <p:pic>
        <p:nvPicPr>
          <p:cNvPr id="7173" name="Picture 4" descr="E:\PT Relation.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5363" y="2133600"/>
            <a:ext cx="380523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20836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5BEADCD9-3354-43CE-89F1-7B4B8E9C6384}" type="slidenum">
              <a:rPr lang="en-US" altLang="en-US" sz="1400" smtClean="0"/>
              <a:pPr eaLnBrk="1" hangingPunct="1">
                <a:spcBef>
                  <a:spcPct val="0"/>
                </a:spcBef>
                <a:buClrTx/>
                <a:buSzTx/>
                <a:buFontTx/>
                <a:buNone/>
              </a:pPr>
              <a:t>6</a:t>
            </a:fld>
            <a:endParaRPr lang="en-US" altLang="en-US" sz="1400" smtClean="0"/>
          </a:p>
        </p:txBody>
      </p:sp>
      <p:sp>
        <p:nvSpPr>
          <p:cNvPr id="8195" name="Rectangle 2"/>
          <p:cNvSpPr>
            <a:spLocks noGrp="1" noChangeArrowheads="1"/>
          </p:cNvSpPr>
          <p:nvPr>
            <p:ph type="title"/>
          </p:nvPr>
        </p:nvSpPr>
        <p:spPr/>
        <p:txBody>
          <a:bodyPr/>
          <a:lstStyle/>
          <a:p>
            <a:pPr eaLnBrk="1" hangingPunct="1"/>
            <a:r>
              <a:rPr lang="en-US" altLang="en-US" smtClean="0"/>
              <a:t>Frostbite</a:t>
            </a:r>
          </a:p>
        </p:txBody>
      </p:sp>
      <p:sp>
        <p:nvSpPr>
          <p:cNvPr id="8196" name="Text Box 4"/>
          <p:cNvSpPr txBox="1">
            <a:spLocks noChangeArrowheads="1"/>
          </p:cNvSpPr>
          <p:nvPr/>
        </p:nvSpPr>
        <p:spPr bwMode="auto">
          <a:xfrm>
            <a:off x="685800" y="3962400"/>
            <a:ext cx="7696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If liquid refrigerant is released, it will boil immediately and lower the temperature of whatever it touches down to its boiling point. Both of these refrigerants have a boiling point well below freezing.</a:t>
            </a:r>
          </a:p>
        </p:txBody>
      </p:sp>
      <p:sp>
        <p:nvSpPr>
          <p:cNvPr id="8197" name="Rectangle 1"/>
          <p:cNvSpPr>
            <a:spLocks noChangeArrowheads="1"/>
          </p:cNvSpPr>
          <p:nvPr/>
        </p:nvSpPr>
        <p:spPr bwMode="auto">
          <a:xfrm>
            <a:off x="1828800" y="2446338"/>
            <a:ext cx="5181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Boiling point of R134a is -15° F. </a:t>
            </a:r>
          </a:p>
          <a:p>
            <a:pPr eaLnBrk="1" hangingPunct="1"/>
            <a:r>
              <a:rPr lang="en-US" altLang="en-US"/>
              <a:t>Boiling point of R12 is -21° F.</a:t>
            </a:r>
          </a:p>
        </p:txBody>
      </p:sp>
    </p:spTree>
    <p:extLst>
      <p:ext uri="{BB962C8B-B14F-4D97-AF65-F5344CB8AC3E}">
        <p14:creationId xmlns:p14="http://schemas.microsoft.com/office/powerpoint/2010/main" val="201088680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BE560A17-7DD0-4A70-BA1A-EB5DE2C1132D}" type="slidenum">
              <a:rPr lang="en-US" altLang="en-US" sz="1400" smtClean="0"/>
              <a:pPr eaLnBrk="1" hangingPunct="1">
                <a:spcBef>
                  <a:spcPct val="0"/>
                </a:spcBef>
                <a:buClrTx/>
                <a:buSzTx/>
                <a:buFontTx/>
                <a:buNone/>
              </a:pPr>
              <a:t>7</a:t>
            </a:fld>
            <a:endParaRPr lang="en-US" altLang="en-US" sz="1400" smtClean="0"/>
          </a:p>
        </p:txBody>
      </p:sp>
      <p:sp>
        <p:nvSpPr>
          <p:cNvPr id="9219" name="Rectangle 2"/>
          <p:cNvSpPr>
            <a:spLocks noGrp="1" noChangeArrowheads="1"/>
          </p:cNvSpPr>
          <p:nvPr>
            <p:ph type="title"/>
          </p:nvPr>
        </p:nvSpPr>
        <p:spPr/>
        <p:txBody>
          <a:bodyPr/>
          <a:lstStyle/>
          <a:p>
            <a:pPr eaLnBrk="1" hangingPunct="1"/>
            <a:r>
              <a:rPr lang="en-US" altLang="en-US" smtClean="0"/>
              <a:t>Asphyxiation</a:t>
            </a:r>
          </a:p>
        </p:txBody>
      </p:sp>
      <p:pic>
        <p:nvPicPr>
          <p:cNvPr id="9220" name="Picture 3" descr="E:\Refrig Pp.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133600"/>
            <a:ext cx="33528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4"/>
          <p:cNvSpPr txBox="1">
            <a:spLocks noChangeArrowheads="1"/>
          </p:cNvSpPr>
          <p:nvPr/>
        </p:nvSpPr>
        <p:spPr bwMode="auto">
          <a:xfrm>
            <a:off x="685800" y="3581400"/>
            <a:ext cx="7620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Neither R-12 nor R-134a contain any oxygen; they will not support life. They are both heavier than air, and if released into a confined space, will displace air.</a:t>
            </a:r>
          </a:p>
        </p:txBody>
      </p:sp>
    </p:spTree>
    <p:extLst>
      <p:ext uri="{BB962C8B-B14F-4D97-AF65-F5344CB8AC3E}">
        <p14:creationId xmlns:p14="http://schemas.microsoft.com/office/powerpoint/2010/main" val="2863255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FBE2603B-53E6-4167-874C-B0DE07ADFDE4}" type="slidenum">
              <a:rPr lang="en-US" altLang="en-US" sz="1400" smtClean="0"/>
              <a:pPr eaLnBrk="1" hangingPunct="1">
                <a:spcBef>
                  <a:spcPct val="0"/>
                </a:spcBef>
                <a:buClrTx/>
                <a:buSzTx/>
                <a:buFontTx/>
                <a:buNone/>
              </a:pPr>
              <a:t>8</a:t>
            </a:fld>
            <a:endParaRPr lang="en-US" altLang="en-US" sz="1400" smtClean="0"/>
          </a:p>
        </p:txBody>
      </p:sp>
      <p:sp>
        <p:nvSpPr>
          <p:cNvPr id="10243" name="Rectangle 2"/>
          <p:cNvSpPr>
            <a:spLocks noGrp="1" noChangeArrowheads="1"/>
          </p:cNvSpPr>
          <p:nvPr>
            <p:ph type="title"/>
          </p:nvPr>
        </p:nvSpPr>
        <p:spPr/>
        <p:txBody>
          <a:bodyPr/>
          <a:lstStyle/>
          <a:p>
            <a:pPr eaLnBrk="1" hangingPunct="1"/>
            <a:r>
              <a:rPr lang="en-US" altLang="en-US" smtClean="0"/>
              <a:t>Exploding Containers</a:t>
            </a:r>
          </a:p>
        </p:txBody>
      </p:sp>
      <p:pic>
        <p:nvPicPr>
          <p:cNvPr id="10244" name="Picture 3" descr="E:\Explode Pp.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438400"/>
            <a:ext cx="20478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4"/>
          <p:cNvSpPr txBox="1">
            <a:spLocks noChangeArrowheads="1"/>
          </p:cNvSpPr>
          <p:nvPr/>
        </p:nvSpPr>
        <p:spPr bwMode="auto">
          <a:xfrm>
            <a:off x="762000" y="2743200"/>
            <a:ext cx="5410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The liquid volume in a container expands as it is heated. If it fills the container, the pressure can cause the container to explode. An exploding container will release the refrigerant which will immediately boil.</a:t>
            </a:r>
          </a:p>
        </p:txBody>
      </p:sp>
    </p:spTree>
    <p:extLst>
      <p:ext uri="{BB962C8B-B14F-4D97-AF65-F5344CB8AC3E}">
        <p14:creationId xmlns:p14="http://schemas.microsoft.com/office/powerpoint/2010/main" val="28664517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914400" y="152400"/>
            <a:ext cx="8118475" cy="838200"/>
          </a:xfrm>
        </p:spPr>
        <p:txBody>
          <a:bodyPr/>
          <a:lstStyle/>
          <a:p>
            <a:r>
              <a:rPr lang="en-US" dirty="0" smtClean="0"/>
              <a:t>Safe </a:t>
            </a:r>
            <a:r>
              <a:rPr lang="en-US" dirty="0"/>
              <a:t>H</a:t>
            </a:r>
            <a:r>
              <a:rPr lang="en-US" dirty="0" smtClean="0"/>
              <a:t>andling of Refrigerant</a:t>
            </a:r>
            <a:endParaRPr lang="en-US" dirty="0"/>
          </a:p>
        </p:txBody>
      </p:sp>
      <p:sp>
        <p:nvSpPr>
          <p:cNvPr id="14" name="Content Placeholder 13"/>
          <p:cNvSpPr>
            <a:spLocks noGrp="1"/>
          </p:cNvSpPr>
          <p:nvPr>
            <p:ph idx="1"/>
          </p:nvPr>
        </p:nvSpPr>
        <p:spPr>
          <a:xfrm>
            <a:off x="990600" y="1828800"/>
            <a:ext cx="8153400" cy="5029200"/>
          </a:xfrm>
        </p:spPr>
        <p:txBody>
          <a:bodyPr/>
          <a:lstStyle/>
          <a:p>
            <a:r>
              <a:rPr lang="en-US" sz="2400" dirty="0" smtClean="0"/>
              <a:t>Store refrigerants in a clean, dry area out of direct sunlight. </a:t>
            </a:r>
          </a:p>
          <a:p>
            <a:r>
              <a:rPr lang="en-US" sz="2400" dirty="0" smtClean="0"/>
              <a:t>Never tamper with cylinder valves or pressure relief devices</a:t>
            </a:r>
          </a:p>
          <a:p>
            <a:r>
              <a:rPr lang="en-US" sz="2400" dirty="0" smtClean="0"/>
              <a:t>Never refill disposable cylinders with anything. Do not use as compressed air tanks.</a:t>
            </a:r>
          </a:p>
          <a:p>
            <a:r>
              <a:rPr lang="en-US" sz="2400" dirty="0" smtClean="0"/>
              <a:t>Wear protective clothing</a:t>
            </a:r>
          </a:p>
          <a:p>
            <a:r>
              <a:rPr lang="en-US" sz="2400" dirty="0" smtClean="0"/>
              <a:t>Avoid contact with refrigerant because frostbite may occur</a:t>
            </a:r>
          </a:p>
          <a:p>
            <a:endParaRPr lang="en-US" dirty="0"/>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274C79EC-D998-4B83-91FE-A0395FAF4F5B}" type="slidenum">
              <a:rPr lang="en-US" altLang="en-US" sz="1400" smtClean="0"/>
              <a:pPr eaLnBrk="1" hangingPunct="1">
                <a:spcBef>
                  <a:spcPct val="0"/>
                </a:spcBef>
                <a:buClrTx/>
                <a:buSzTx/>
                <a:buFontTx/>
                <a:buNone/>
              </a:pPr>
              <a:t>10</a:t>
            </a:fld>
            <a:endParaRPr lang="en-US" altLang="en-US" sz="1400" smtClean="0"/>
          </a:p>
        </p:txBody>
      </p:sp>
      <p:sp>
        <p:nvSpPr>
          <p:cNvPr id="11267" name="Rectangle 2"/>
          <p:cNvSpPr>
            <a:spLocks noGrp="1" noChangeArrowheads="1"/>
          </p:cNvSpPr>
          <p:nvPr>
            <p:ph type="title"/>
          </p:nvPr>
        </p:nvSpPr>
        <p:spPr/>
        <p:txBody>
          <a:bodyPr/>
          <a:lstStyle/>
          <a:p>
            <a:pPr eaLnBrk="1" hangingPunct="1"/>
            <a:r>
              <a:rPr lang="en-US" altLang="en-US" smtClean="0"/>
              <a:t>Carbonyl Fluoride</a:t>
            </a:r>
          </a:p>
        </p:txBody>
      </p:sp>
      <p:sp>
        <p:nvSpPr>
          <p:cNvPr id="11268" name="Text Box 3"/>
          <p:cNvSpPr txBox="1">
            <a:spLocks noChangeArrowheads="1"/>
          </p:cNvSpPr>
          <p:nvPr/>
        </p:nvSpPr>
        <p:spPr bwMode="auto">
          <a:xfrm>
            <a:off x="457200" y="2362200"/>
            <a:ext cx="51054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R-12 (Cl</a:t>
            </a:r>
            <a:r>
              <a:rPr lang="en-US" altLang="en-US" sz="2400" baseline="-25000"/>
              <a:t>2</a:t>
            </a:r>
            <a:r>
              <a:rPr lang="en-US" altLang="en-US" sz="2400"/>
              <a:t>Fl</a:t>
            </a:r>
            <a:r>
              <a:rPr lang="en-US" altLang="en-US" sz="2400" baseline="-25000"/>
              <a:t>2</a:t>
            </a:r>
            <a:r>
              <a:rPr lang="en-US" altLang="en-US" sz="2400"/>
              <a:t>C) breaks down to carbonyl fluoride (COF</a:t>
            </a:r>
            <a:r>
              <a:rPr lang="en-US" altLang="en-US" sz="2400" baseline="-25000"/>
              <a:t>2</a:t>
            </a:r>
            <a:r>
              <a:rPr lang="en-US" altLang="en-US" sz="2400"/>
              <a:t>) when burned. It is similar to Phosgene (CCl</a:t>
            </a:r>
            <a:r>
              <a:rPr lang="en-US" altLang="en-US" sz="2400" baseline="-25000"/>
              <a:t>2</a:t>
            </a:r>
            <a:r>
              <a:rPr lang="en-US" altLang="en-US" sz="2400"/>
              <a:t>O) gas but not quite as deadly. R-12 sucked into a running engine or through a burning cigarette will also produce carbonyl fluoride.</a:t>
            </a:r>
          </a:p>
        </p:txBody>
      </p:sp>
      <p:pic>
        <p:nvPicPr>
          <p:cNvPr id="11269" name="Picture 4" descr="E:\Phosgene Pp.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133600"/>
            <a:ext cx="261937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915554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2F50C304-2306-4235-BC4D-53D8BB51F308}" type="slidenum">
              <a:rPr lang="en-US" altLang="en-US" sz="1400" smtClean="0"/>
              <a:pPr eaLnBrk="1" hangingPunct="1">
                <a:spcBef>
                  <a:spcPct val="0"/>
                </a:spcBef>
                <a:buClrTx/>
                <a:buSzTx/>
                <a:buFontTx/>
                <a:buNone/>
              </a:pPr>
              <a:t>11</a:t>
            </a:fld>
            <a:endParaRPr lang="en-US" altLang="en-US" sz="1400" smtClean="0"/>
          </a:p>
        </p:txBody>
      </p:sp>
      <p:sp>
        <p:nvSpPr>
          <p:cNvPr id="12291" name="Rectangle 2"/>
          <p:cNvSpPr>
            <a:spLocks noGrp="1" noChangeArrowheads="1"/>
          </p:cNvSpPr>
          <p:nvPr>
            <p:ph type="title"/>
          </p:nvPr>
        </p:nvSpPr>
        <p:spPr/>
        <p:txBody>
          <a:bodyPr/>
          <a:lstStyle/>
          <a:p>
            <a:pPr eaLnBrk="1" hangingPunct="1"/>
            <a:r>
              <a:rPr lang="en-US" altLang="en-US" smtClean="0"/>
              <a:t>Fans and Drive Belts</a:t>
            </a:r>
          </a:p>
        </p:txBody>
      </p:sp>
      <p:sp>
        <p:nvSpPr>
          <p:cNvPr id="12292" name="Text Box 3"/>
          <p:cNvSpPr txBox="1">
            <a:spLocks noChangeArrowheads="1"/>
          </p:cNvSpPr>
          <p:nvPr/>
        </p:nvSpPr>
        <p:spPr bwMode="auto">
          <a:xfrm>
            <a:off x="838200" y="2667000"/>
            <a:ext cx="7239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Always use caution when working close to the moving drive belts and fan. Remember that electric fans on some vehicles can start and stop on their own, even with the engine off.</a:t>
            </a:r>
          </a:p>
        </p:txBody>
      </p:sp>
    </p:spTree>
    <p:extLst>
      <p:ext uri="{BB962C8B-B14F-4D97-AF65-F5344CB8AC3E}">
        <p14:creationId xmlns:p14="http://schemas.microsoft.com/office/powerpoint/2010/main" val="330478591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3601F863-8EE4-4F37-A29E-4620D55D558F}" type="slidenum">
              <a:rPr lang="en-US" altLang="en-US" sz="1400" smtClean="0"/>
              <a:pPr eaLnBrk="1" hangingPunct="1">
                <a:spcBef>
                  <a:spcPct val="0"/>
                </a:spcBef>
                <a:buClrTx/>
                <a:buSzTx/>
                <a:buFontTx/>
                <a:buNone/>
              </a:pPr>
              <a:t>12</a:t>
            </a:fld>
            <a:endParaRPr lang="en-US" altLang="en-US" sz="1400" smtClean="0"/>
          </a:p>
        </p:txBody>
      </p:sp>
      <p:sp>
        <p:nvSpPr>
          <p:cNvPr id="13315" name="Rectangle 2"/>
          <p:cNvSpPr>
            <a:spLocks noGrp="1" noChangeArrowheads="1"/>
          </p:cNvSpPr>
          <p:nvPr>
            <p:ph type="title"/>
          </p:nvPr>
        </p:nvSpPr>
        <p:spPr/>
        <p:txBody>
          <a:bodyPr/>
          <a:lstStyle/>
          <a:p>
            <a:pPr eaLnBrk="1" hangingPunct="1"/>
            <a:r>
              <a:rPr lang="en-US" altLang="en-US" smtClean="0"/>
              <a:t>Electrical Circuits</a:t>
            </a:r>
          </a:p>
        </p:txBody>
      </p:sp>
      <p:sp>
        <p:nvSpPr>
          <p:cNvPr id="13316" name="Text Box 3"/>
          <p:cNvSpPr txBox="1">
            <a:spLocks noChangeArrowheads="1"/>
          </p:cNvSpPr>
          <p:nvPr/>
        </p:nvSpPr>
        <p:spPr bwMode="auto">
          <a:xfrm>
            <a:off x="609600" y="2286000"/>
            <a:ext cx="8153400"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a:t>A vehicle’s electrical system presents several potential hazards:</a:t>
            </a:r>
          </a:p>
          <a:p>
            <a:pPr eaLnBrk="1" hangingPunct="1">
              <a:spcBef>
                <a:spcPct val="50000"/>
              </a:spcBef>
              <a:buClrTx/>
              <a:buSzTx/>
              <a:buFontTx/>
              <a:buChar char="•"/>
            </a:pPr>
            <a:r>
              <a:rPr lang="en-US" altLang="en-US" sz="2400"/>
              <a:t>Electrical shock, especially with 42 volt and higher systems</a:t>
            </a:r>
          </a:p>
          <a:p>
            <a:pPr eaLnBrk="1" hangingPunct="1">
              <a:spcBef>
                <a:spcPct val="50000"/>
              </a:spcBef>
              <a:buClrTx/>
              <a:buSzTx/>
              <a:buFontTx/>
              <a:buChar char="•"/>
            </a:pPr>
            <a:r>
              <a:rPr lang="en-US" altLang="en-US" sz="2400"/>
              <a:t>If a metal tool grounds out a system, arc/flash and tool burning can occur</a:t>
            </a:r>
          </a:p>
          <a:p>
            <a:pPr eaLnBrk="1" hangingPunct="1">
              <a:spcBef>
                <a:spcPct val="50000"/>
              </a:spcBef>
              <a:buClrTx/>
              <a:buSzTx/>
              <a:buFontTx/>
              <a:buChar char="•"/>
            </a:pPr>
            <a:r>
              <a:rPr lang="en-US" altLang="en-US" sz="2400"/>
              <a:t>Batteries can explode</a:t>
            </a:r>
          </a:p>
        </p:txBody>
      </p:sp>
    </p:spTree>
    <p:extLst>
      <p:ext uri="{BB962C8B-B14F-4D97-AF65-F5344CB8AC3E}">
        <p14:creationId xmlns:p14="http://schemas.microsoft.com/office/powerpoint/2010/main" val="89536624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64A819F6-ED16-4502-BC2F-60F4ECE674B1}" type="slidenum">
              <a:rPr lang="en-US" altLang="en-US" sz="1400" smtClean="0"/>
              <a:pPr eaLnBrk="1" hangingPunct="1">
                <a:spcBef>
                  <a:spcPct val="0"/>
                </a:spcBef>
                <a:buClrTx/>
                <a:buSzTx/>
                <a:buFontTx/>
                <a:buNone/>
              </a:pPr>
              <a:t>13</a:t>
            </a:fld>
            <a:endParaRPr lang="en-US" altLang="en-US" sz="1400" smtClean="0"/>
          </a:p>
        </p:txBody>
      </p:sp>
      <p:sp>
        <p:nvSpPr>
          <p:cNvPr id="14339" name="Rectangle 2"/>
          <p:cNvSpPr>
            <a:spLocks noGrp="1" noChangeArrowheads="1"/>
          </p:cNvSpPr>
          <p:nvPr>
            <p:ph type="title"/>
          </p:nvPr>
        </p:nvSpPr>
        <p:spPr>
          <a:xfrm>
            <a:off x="2819400" y="2819400"/>
            <a:ext cx="4038600" cy="1600200"/>
          </a:xfrm>
        </p:spPr>
        <p:txBody>
          <a:bodyPr/>
          <a:lstStyle/>
          <a:p>
            <a:pPr eaLnBrk="1" hangingPunct="1"/>
            <a:r>
              <a:rPr lang="en-US" altLang="en-US" sz="7200" dirty="0" smtClean="0"/>
              <a:t>The End</a:t>
            </a:r>
          </a:p>
        </p:txBody>
      </p:sp>
    </p:spTree>
    <p:extLst>
      <p:ext uri="{BB962C8B-B14F-4D97-AF65-F5344CB8AC3E}">
        <p14:creationId xmlns:p14="http://schemas.microsoft.com/office/powerpoint/2010/main" val="2067936845"/>
      </p:ext>
    </p:extLst>
  </p:cSld>
  <p:clrMapOvr>
    <a:masterClrMapping/>
  </p:clrMapOvr>
  <p:transition/>
</p:sld>
</file>

<file path=ppt/theme/theme1.xml><?xml version="1.0" encoding="utf-8"?>
<a:theme xmlns:a="http://schemas.openxmlformats.org/drawingml/2006/main" name="Bobcat">
  <a:themeElements>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range_side_template_2006">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lnDef>
  </a:objectDefaults>
  <a:extraClrSchemeLst>
    <a:extraClrScheme>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range_side_template_200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range_side_template_200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range_side_template_200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range_side_template_200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range_side_template_200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range_side_template_200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A5A8AEA7BEFD429155B4F4F35992AF" ma:contentTypeVersion="12" ma:contentTypeDescription="Create a new document." ma:contentTypeScope="" ma:versionID="d31a8a9230b862674c0e6f6f9bc34b39">
  <xsd:schema xmlns:xsd="http://www.w3.org/2001/XMLSchema" xmlns:xs="http://www.w3.org/2001/XMLSchema" xmlns:p="http://schemas.microsoft.com/office/2006/metadata/properties" xmlns:ns2="2f2826e4-9515-451e-9b2a-6dcc51677b4f" xmlns:ns3="92993479-0310-490b-83e9-ee080835902c" targetNamespace="http://schemas.microsoft.com/office/2006/metadata/properties" ma:root="true" ma:fieldsID="f3898e7bb7d8730441ac26dbb9dae5dc" ns2:_="" ns3:_="">
    <xsd:import namespace="2f2826e4-9515-451e-9b2a-6dcc51677b4f"/>
    <xsd:import namespace="92993479-0310-490b-83e9-ee080835902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826e4-9515-451e-9b2a-6dcc51677b4f"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b7c6bcd-9d99-4516-a920-77b75fce039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93479-0310-490b-83e9-ee080835902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a0189bf-8988-403b-9066-b1fd957158d1}" ma:internalName="TaxCatchAll" ma:showField="CatchAllData" ma:web="92993479-0310-490b-83e9-ee08083590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2993479-0310-490b-83e9-ee080835902c" xsi:nil="true"/>
    <MediaLengthInSeconds xmlns="2f2826e4-9515-451e-9b2a-6dcc51677b4f" xsi:nil="true"/>
    <lcf76f155ced4ddcb4097134ff3c332f xmlns="2f2826e4-9515-451e-9b2a-6dcc51677b4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7746BA3-30AD-4440-A69D-B70AA82A068C}"/>
</file>

<file path=customXml/itemProps2.xml><?xml version="1.0" encoding="utf-8"?>
<ds:datastoreItem xmlns:ds="http://schemas.openxmlformats.org/officeDocument/2006/customXml" ds:itemID="{D78E5352-1BA5-45E6-ACAB-FCD8CC33A20D}"/>
</file>

<file path=customXml/itemProps3.xml><?xml version="1.0" encoding="utf-8"?>
<ds:datastoreItem xmlns:ds="http://schemas.openxmlformats.org/officeDocument/2006/customXml" ds:itemID="{C997F6DC-B4AE-4903-A3D3-7219BAFDDCBF}"/>
</file>

<file path=docProps/app.xml><?xml version="1.0" encoding="utf-8"?>
<Properties xmlns="http://schemas.openxmlformats.org/officeDocument/2006/extended-properties" xmlns:vt="http://schemas.openxmlformats.org/officeDocument/2006/docPropsVTypes">
  <Template>Bobcat</Template>
  <TotalTime>1202</TotalTime>
  <Words>551</Words>
  <Application>Microsoft Office PowerPoint</Application>
  <PresentationFormat>On-screen Show (4:3)</PresentationFormat>
  <Paragraphs>60</Paragraphs>
  <Slides>13</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Bobcat</vt:lpstr>
      <vt:lpstr>Clip</vt:lpstr>
      <vt:lpstr>A/C Safety Concerns</vt:lpstr>
      <vt:lpstr>PowerPoint Presentation</vt:lpstr>
      <vt:lpstr>Potential Hazards</vt:lpstr>
      <vt:lpstr>Personal Protective Equipment</vt:lpstr>
      <vt:lpstr>Liquid R-12 &amp; R-134a</vt:lpstr>
      <vt:lpstr>Frostbite</vt:lpstr>
      <vt:lpstr>Asphyxiation</vt:lpstr>
      <vt:lpstr>Exploding Containers</vt:lpstr>
      <vt:lpstr>Safe Handling of Refrigerant</vt:lpstr>
      <vt:lpstr>Carbonyl Fluoride</vt:lpstr>
      <vt:lpstr>Fans and Drive Belts</vt:lpstr>
      <vt:lpstr>Electrical Circuits</vt:lpstr>
      <vt:lpstr>The End</vt:lpstr>
    </vt:vector>
  </TitlesOfParts>
  <Company>Edison Community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TOSHIBA USER</dc:creator>
  <cp:keywords>21;#HVAC|cd53b3d5-bb39-40b6-8ced-538a96eb3a82</cp:keywords>
  <cp:lastModifiedBy>Brian McFarland</cp:lastModifiedBy>
  <cp:revision>103</cp:revision>
  <dcterms:created xsi:type="dcterms:W3CDTF">2011-01-08T14:26:22Z</dcterms:created>
  <dcterms:modified xsi:type="dcterms:W3CDTF">2018-05-24T19:12:04Z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0x010100BAA5A8AEA7BEFD429155B4F4F35992AF</vt:lpwstr>
  </property>
  <property fmtid="{D5CDD505-2E9C-101B-9397-08002B2CF9AE}" pid="3" name="Order">
    <vt:r8>907100</vt:r8>
  </property>
  <property fmtid="{D5CDD505-2E9C-101B-9397-08002B2CF9AE}" pid="4" name="_ColorTag">
    <vt:lpwstr/>
  </property>
  <property fmtid="{D5CDD505-2E9C-101B-9397-08002B2CF9AE}" pid="5" name="_ExtendedDescription">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_ColorHex">
    <vt:lpwstr/>
  </property>
  <property fmtid="{D5CDD505-2E9C-101B-9397-08002B2CF9AE}" pid="10" name="_Emoji">
    <vt:lpwstr/>
  </property>
  <property fmtid="{D5CDD505-2E9C-101B-9397-08002B2CF9AE}" pid="11" name="ComplianceAssetId">
    <vt:lpwstr/>
  </property>
  <property fmtid="{D5CDD505-2E9C-101B-9397-08002B2CF9AE}" pid="12" name="MediaServiceImageTags">
    <vt:lpwstr/>
  </property>
  <property fmtid="{D5CDD505-2E9C-101B-9397-08002B2CF9AE}" pid="13" name="xd_ProgID">
    <vt:lpwstr/>
  </property>
  <property fmtid="{D5CDD505-2E9C-101B-9397-08002B2CF9AE}" pid="14" name="TemplateUrl">
    <vt:lpwstr/>
  </property>
  <property fmtid="{D5CDD505-2E9C-101B-9397-08002B2CF9AE}" pid="15" name="c96017a53ddc4930b18d313f6151eb39">
    <vt:lpwstr>HVAC|cd53b3d5-bb39-40b6-8ced-538a96eb3a82</vt:lpwstr>
  </property>
  <property fmtid="{D5CDD505-2E9C-101B-9397-08002B2CF9AE}" pid="16" name="xd_Signature">
    <vt:bool>false</vt:bool>
  </property>
</Properties>
</file>
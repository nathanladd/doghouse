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7.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8.xml" ContentType="application/vnd.openxmlformats-officedocument.presentationml.slide+xml"/>
  <Override PartName="/ppt/slides/slide8.xml" ContentType="application/vnd.openxmlformats-officedocument.presentationml.slide+xml"/>
  <Override PartName="/ppt/slides/slide6.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notesSlides/notesSlide3.xml" ContentType="application/vnd.openxmlformats-officedocument.presentationml.notesSlide+xml"/>
  <Override PartName="/ppt/slideMasters/slideMaster1.xml" ContentType="application/vnd.openxmlformats-officedocument.presentationml.slideMaster+xml"/>
  <Override PartName="/ppt/notesSlides/notesSlide2.xml" ContentType="application/vnd.openxmlformats-officedocument.presentationml.notesSlide+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notesSlides/notesSlide1.xml" ContentType="application/vnd.openxmlformats-officedocument.presentationml.notesSlid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2"/>
  </p:notesMasterIdLst>
  <p:sldIdLst>
    <p:sldId id="476" r:id="rId2"/>
    <p:sldId id="475" r:id="rId3"/>
    <p:sldId id="448" r:id="rId4"/>
    <p:sldId id="449" r:id="rId5"/>
    <p:sldId id="477" r:id="rId6"/>
    <p:sldId id="472" r:id="rId7"/>
    <p:sldId id="473" r:id="rId8"/>
    <p:sldId id="450" r:id="rId9"/>
    <p:sldId id="451" r:id="rId10"/>
    <p:sldId id="452" r:id="rId11"/>
    <p:sldId id="453" r:id="rId12"/>
    <p:sldId id="454" r:id="rId13"/>
    <p:sldId id="455" r:id="rId14"/>
    <p:sldId id="456" r:id="rId15"/>
    <p:sldId id="457" r:id="rId16"/>
    <p:sldId id="458" r:id="rId17"/>
    <p:sldId id="459" r:id="rId18"/>
    <p:sldId id="460" r:id="rId19"/>
    <p:sldId id="461" r:id="rId20"/>
    <p:sldId id="462"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A1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9867" autoAdjust="0"/>
  </p:normalViewPr>
  <p:slideViewPr>
    <p:cSldViewPr>
      <p:cViewPr>
        <p:scale>
          <a:sx n="70" d="100"/>
          <a:sy n="70" d="100"/>
        </p:scale>
        <p:origin x="-1374" y="-11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openxmlformats.org/officeDocument/2006/relationships/customXml" Target="../customXml/item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customXml" Target="../customXml/item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2F17EEF-E07D-417B-9844-E5020ABA3B4C}" type="datetimeFigureOut">
              <a:rPr lang="en-US" smtClean="0"/>
              <a:pPr/>
              <a:t>6/10/2018</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F0DA2CF-E459-4D24-AF27-AB276913243E}" type="slidenum">
              <a:rPr lang="en-US" smtClean="0"/>
              <a:pPr/>
              <a:t>‹#›</a:t>
            </a:fld>
            <a:endParaRPr lang="en-US"/>
          </a:p>
        </p:txBody>
      </p:sp>
    </p:spTree>
    <p:extLst>
      <p:ext uri="{BB962C8B-B14F-4D97-AF65-F5344CB8AC3E}">
        <p14:creationId xmlns:p14="http://schemas.microsoft.com/office/powerpoint/2010/main" val="14727509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smtClean="0"/>
              <a:t>Convection is the process of transferring heat by moving the heated fluid, in either a liquid or gaseous state. So we can heat it in one location and move it to another location where the heat is released. An example is a cooling system or an a/c system on a vehicle.</a:t>
            </a:r>
          </a:p>
          <a:p>
            <a:endParaRPr lang="en-US" dirty="0"/>
          </a:p>
        </p:txBody>
      </p:sp>
      <p:sp>
        <p:nvSpPr>
          <p:cNvPr id="4" name="Slide Number Placeholder 3"/>
          <p:cNvSpPr>
            <a:spLocks noGrp="1"/>
          </p:cNvSpPr>
          <p:nvPr>
            <p:ph type="sldNum" sz="quarter" idx="10"/>
          </p:nvPr>
        </p:nvSpPr>
        <p:spPr/>
        <p:txBody>
          <a:bodyPr/>
          <a:lstStyle/>
          <a:p>
            <a:fld id="{FF0DA2CF-E459-4D24-AF27-AB276913243E}" type="slidenum">
              <a:rPr lang="en-US" smtClean="0"/>
              <a:pPr/>
              <a:t>11</a:t>
            </a:fld>
            <a:endParaRPr lang="en-US"/>
          </a:p>
        </p:txBody>
      </p:sp>
    </p:spTree>
    <p:extLst>
      <p:ext uri="{BB962C8B-B14F-4D97-AF65-F5344CB8AC3E}">
        <p14:creationId xmlns:p14="http://schemas.microsoft.com/office/powerpoint/2010/main" val="37062255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smtClean="0">
                <a:latin typeface="Times New Roman" charset="0"/>
              </a:rPr>
              <a:t>Radiation is the process of heat passing from one location to another without warming the area through which it passed. An example is the sun heating dark objects on earth while passing through cold air space, or through glass to a dark object.</a:t>
            </a:r>
            <a:endParaRPr lang="en-US" dirty="0" smtClean="0"/>
          </a:p>
          <a:p>
            <a:endParaRPr lang="en-US" dirty="0"/>
          </a:p>
        </p:txBody>
      </p:sp>
      <p:sp>
        <p:nvSpPr>
          <p:cNvPr id="4" name="Slide Number Placeholder 3"/>
          <p:cNvSpPr>
            <a:spLocks noGrp="1"/>
          </p:cNvSpPr>
          <p:nvPr>
            <p:ph type="sldNum" sz="quarter" idx="10"/>
          </p:nvPr>
        </p:nvSpPr>
        <p:spPr/>
        <p:txBody>
          <a:bodyPr/>
          <a:lstStyle/>
          <a:p>
            <a:fld id="{FF0DA2CF-E459-4D24-AF27-AB276913243E}" type="slidenum">
              <a:rPr lang="en-US" smtClean="0"/>
              <a:pPr/>
              <a:t>12</a:t>
            </a:fld>
            <a:endParaRPr lang="en-US"/>
          </a:p>
        </p:txBody>
      </p:sp>
    </p:spTree>
    <p:extLst>
      <p:ext uri="{BB962C8B-B14F-4D97-AF65-F5344CB8AC3E}">
        <p14:creationId xmlns:p14="http://schemas.microsoft.com/office/powerpoint/2010/main" val="34031071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F0DA2CF-E459-4D24-AF27-AB276913243E}" type="slidenum">
              <a:rPr lang="en-US" smtClean="0"/>
              <a:pPr/>
              <a:t>13</a:t>
            </a:fld>
            <a:endParaRPr lang="en-US"/>
          </a:p>
        </p:txBody>
      </p:sp>
    </p:spTree>
    <p:extLst>
      <p:ext uri="{BB962C8B-B14F-4D97-AF65-F5344CB8AC3E}">
        <p14:creationId xmlns:p14="http://schemas.microsoft.com/office/powerpoint/2010/main" val="49144627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5"/>
          <p:cNvSpPr>
            <a:spLocks noChangeArrowheads="1"/>
          </p:cNvSpPr>
          <p:nvPr/>
        </p:nvSpPr>
        <p:spPr bwMode="auto">
          <a:xfrm>
            <a:off x="0" y="0"/>
            <a:ext cx="533400" cy="6858000"/>
          </a:xfrm>
          <a:prstGeom prst="rect">
            <a:avLst/>
          </a:prstGeom>
          <a:solidFill>
            <a:srgbClr val="FF3600"/>
          </a:solidFill>
          <a:ln w="9525">
            <a:noFill/>
            <a:miter lim="800000"/>
            <a:headEnd type="none" w="sm" len="sm"/>
            <a:tailEnd type="none" w="sm" len="sm"/>
          </a:ln>
          <a:effectLst/>
        </p:spPr>
        <p:txBody>
          <a:bodyPr wrap="none" anchor="ctr"/>
          <a:lstStyle/>
          <a:p>
            <a:pPr>
              <a:defRPr/>
            </a:pPr>
            <a:endParaRPr lang="en-US">
              <a:latin typeface="Arial" charset="0"/>
            </a:endParaRPr>
          </a:p>
        </p:txBody>
      </p:sp>
      <p:sp>
        <p:nvSpPr>
          <p:cNvPr id="5" name="Line 6"/>
          <p:cNvSpPr>
            <a:spLocks noChangeShapeType="1"/>
          </p:cNvSpPr>
          <p:nvPr/>
        </p:nvSpPr>
        <p:spPr bwMode="auto">
          <a:xfrm>
            <a:off x="0" y="1143000"/>
            <a:ext cx="9144000" cy="0"/>
          </a:xfrm>
          <a:prstGeom prst="line">
            <a:avLst/>
          </a:prstGeom>
          <a:noFill/>
          <a:ln w="92075">
            <a:solidFill>
              <a:schemeClr val="tx1"/>
            </a:solidFill>
            <a:round/>
            <a:headEnd/>
            <a:tailEnd/>
          </a:ln>
          <a:effectLst/>
        </p:spPr>
        <p:txBody>
          <a:bodyPr wrap="none" anchor="ctr"/>
          <a:lstStyle/>
          <a:p>
            <a:pPr>
              <a:defRPr/>
            </a:pPr>
            <a:endParaRPr lang="en-US">
              <a:latin typeface="Arial" charset="0"/>
            </a:endParaRPr>
          </a:p>
        </p:txBody>
      </p:sp>
      <p:pic>
        <p:nvPicPr>
          <p:cNvPr id="6" name="Picture 13" descr="bobcat_logo_blk"/>
          <p:cNvPicPr>
            <a:picLocks noChangeAspect="1" noChangeArrowheads="1"/>
          </p:cNvPicPr>
          <p:nvPr/>
        </p:nvPicPr>
        <p:blipFill>
          <a:blip r:embed="rId2" cstate="print"/>
          <a:srcRect/>
          <a:stretch>
            <a:fillRect/>
          </a:stretch>
        </p:blipFill>
        <p:spPr bwMode="auto">
          <a:xfrm>
            <a:off x="517634" y="0"/>
            <a:ext cx="3143250" cy="1114425"/>
          </a:xfrm>
          <a:prstGeom prst="rect">
            <a:avLst/>
          </a:prstGeom>
          <a:noFill/>
          <a:ln w="9525">
            <a:noFill/>
            <a:miter lim="800000"/>
            <a:headEnd/>
            <a:tailEnd/>
          </a:ln>
        </p:spPr>
      </p:pic>
      <p:sp>
        <p:nvSpPr>
          <p:cNvPr id="1752075" name="Rectangle 11"/>
          <p:cNvSpPr>
            <a:spLocks noGrp="1" noChangeArrowheads="1"/>
          </p:cNvSpPr>
          <p:nvPr>
            <p:ph type="ctrTitle" sz="quarter"/>
          </p:nvPr>
        </p:nvSpPr>
        <p:spPr>
          <a:xfrm>
            <a:off x="685800" y="2130425"/>
            <a:ext cx="7772400" cy="1470025"/>
          </a:xfrm>
          <a:effectLst/>
        </p:spPr>
        <p:txBody>
          <a:bodyPr anchor="ctr"/>
          <a:lstStyle>
            <a:lvl1pPr algn="ctr">
              <a:defRPr sz="4000"/>
            </a:lvl1pPr>
          </a:lstStyle>
          <a:p>
            <a:r>
              <a:rPr lang="en-US" smtClean="0"/>
              <a:t>Click to edit Master title style</a:t>
            </a:r>
            <a:endParaRPr lang="en-US"/>
          </a:p>
        </p:txBody>
      </p:sp>
      <p:sp>
        <p:nvSpPr>
          <p:cNvPr id="1752076" name="Rectangle 12"/>
          <p:cNvSpPr>
            <a:spLocks noGrp="1" noChangeArrowheads="1"/>
          </p:cNvSpPr>
          <p:nvPr>
            <p:ph type="subTitle" sz="quarter" idx="1"/>
          </p:nvPr>
        </p:nvSpPr>
        <p:spPr>
          <a:xfrm>
            <a:off x="1371600" y="3886200"/>
            <a:ext cx="6400800" cy="1752600"/>
          </a:xfrm>
        </p:spPr>
        <p:txBody>
          <a:bodyPr/>
          <a:lstStyle>
            <a:lvl1pPr marL="0" indent="0" algn="ctr">
              <a:buFontTx/>
              <a:buNone/>
              <a:defRPr/>
            </a:lvl1pPr>
          </a:lstStyle>
          <a:p>
            <a:r>
              <a:rPr lang="en-US" smtClean="0"/>
              <a:t>Click to edit Master subtitle style</a:t>
            </a:r>
            <a:endParaRPr lang="en-US"/>
          </a:p>
        </p:txBody>
      </p:sp>
    </p:spTree>
  </p:cSld>
  <p:clrMapOvr>
    <a:masterClrMapping/>
  </p:clrMapOvr>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a:xfrm>
            <a:off x="990600" y="1043153"/>
            <a:ext cx="8153400" cy="5029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Rectangle 11"/>
          <p:cNvSpPr>
            <a:spLocks noGrp="1" noChangeArrowheads="1"/>
          </p:cNvSpPr>
          <p:nvPr>
            <p:ph type="sldNum" sz="quarter" idx="10"/>
          </p:nvPr>
        </p:nvSpPr>
        <p:spPr>
          <a:ln/>
        </p:spPr>
        <p:txBody>
          <a:bodyPr/>
          <a:lstStyle>
            <a:lvl1pPr>
              <a:defRPr/>
            </a:lvl1pPr>
          </a:lstStyle>
          <a:p>
            <a:fld id="{2BC0F03C-F45D-4B4D-89C0-FE3468FE9F13}" type="slidenum">
              <a:rPr lang="en-US" smtClean="0"/>
              <a:pPr/>
              <a:t>‹#›</a:t>
            </a:fld>
            <a:endParaRPr 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11"/>
          <p:cNvSpPr>
            <a:spLocks noGrp="1" noChangeArrowheads="1"/>
          </p:cNvSpPr>
          <p:nvPr>
            <p:ph type="sldNum" sz="quarter" idx="10"/>
          </p:nvPr>
        </p:nvSpPr>
        <p:spPr>
          <a:ln/>
        </p:spPr>
        <p:txBody>
          <a:bodyPr/>
          <a:lstStyle>
            <a:lvl1pPr>
              <a:defRPr/>
            </a:lvl1pPr>
          </a:lstStyle>
          <a:p>
            <a:fld id="{2BC0F03C-F45D-4B4D-89C0-FE3468FE9F13}" type="slidenum">
              <a:rPr lang="en-US" smtClean="0"/>
              <a:pPr/>
              <a:t>‹#›</a:t>
            </a:fld>
            <a:endParaRPr lang="en-US"/>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295400"/>
            <a:ext cx="40005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838700" y="1295400"/>
            <a:ext cx="40005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11"/>
          <p:cNvSpPr>
            <a:spLocks noGrp="1" noChangeArrowheads="1"/>
          </p:cNvSpPr>
          <p:nvPr>
            <p:ph type="sldNum" sz="quarter" idx="10"/>
          </p:nvPr>
        </p:nvSpPr>
        <p:spPr>
          <a:ln/>
        </p:spPr>
        <p:txBody>
          <a:bodyPr/>
          <a:lstStyle>
            <a:lvl1pPr>
              <a:defRPr/>
            </a:lvl1pPr>
          </a:lstStyle>
          <a:p>
            <a:fld id="{2BC0F03C-F45D-4B4D-89C0-FE3468FE9F13}" type="slidenum">
              <a:rPr lang="en-US" smtClean="0"/>
              <a:pPr/>
              <a:t>‹#›</a:t>
            </a:fld>
            <a:endParaRPr 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11"/>
          <p:cNvSpPr>
            <a:spLocks noGrp="1" noChangeArrowheads="1"/>
          </p:cNvSpPr>
          <p:nvPr>
            <p:ph type="sldNum" sz="quarter" idx="10"/>
          </p:nvPr>
        </p:nvSpPr>
        <p:spPr>
          <a:ln/>
        </p:spPr>
        <p:txBody>
          <a:bodyPr/>
          <a:lstStyle>
            <a:lvl1pPr>
              <a:defRPr/>
            </a:lvl1pPr>
          </a:lstStyle>
          <a:p>
            <a:fld id="{2BC0F03C-F45D-4B4D-89C0-FE3468FE9F13}" type="slidenum">
              <a:rPr lang="en-US" smtClean="0"/>
              <a:pPr/>
              <a:t>‹#›</a:t>
            </a:fld>
            <a:endParaRPr 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11"/>
          <p:cNvSpPr>
            <a:spLocks noGrp="1" noChangeArrowheads="1"/>
          </p:cNvSpPr>
          <p:nvPr>
            <p:ph type="sldNum" sz="quarter" idx="10"/>
          </p:nvPr>
        </p:nvSpPr>
        <p:spPr>
          <a:ln/>
        </p:spPr>
        <p:txBody>
          <a:bodyPr/>
          <a:lstStyle>
            <a:lvl1pPr>
              <a:defRPr/>
            </a:lvl1pPr>
          </a:lstStyle>
          <a:p>
            <a:fld id="{2BC0F03C-F45D-4B4D-89C0-FE3468FE9F13}" type="slidenum">
              <a:rPr lang="en-US" smtClean="0"/>
              <a:pPr/>
              <a:t>‹#›</a:t>
            </a:fld>
            <a:endParaRPr 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1"/>
          <p:cNvSpPr>
            <a:spLocks noGrp="1" noChangeArrowheads="1"/>
          </p:cNvSpPr>
          <p:nvPr>
            <p:ph type="sldNum" sz="quarter" idx="10"/>
          </p:nvPr>
        </p:nvSpPr>
        <p:spPr>
          <a:ln/>
        </p:spPr>
        <p:txBody>
          <a:bodyPr/>
          <a:lstStyle>
            <a:lvl1pPr>
              <a:defRPr/>
            </a:lvl1pPr>
          </a:lstStyle>
          <a:p>
            <a:fld id="{2BC0F03C-F45D-4B4D-89C0-FE3468FE9F13}" type="slidenum">
              <a:rPr lang="en-US" smtClean="0"/>
              <a:pPr/>
              <a:t>‹#›</a:t>
            </a:fld>
            <a:endParaRPr 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11"/>
          <p:cNvSpPr>
            <a:spLocks noGrp="1" noChangeArrowheads="1"/>
          </p:cNvSpPr>
          <p:nvPr>
            <p:ph type="sldNum" sz="quarter" idx="10"/>
          </p:nvPr>
        </p:nvSpPr>
        <p:spPr>
          <a:ln/>
        </p:spPr>
        <p:txBody>
          <a:bodyPr/>
          <a:lstStyle>
            <a:lvl1pPr>
              <a:defRPr/>
            </a:lvl1pPr>
          </a:lstStyle>
          <a:p>
            <a:fld id="{2BC0F03C-F45D-4B4D-89C0-FE3468FE9F13}" type="slidenum">
              <a:rPr lang="en-US" smtClean="0"/>
              <a:pPr/>
              <a:t>‹#›</a:t>
            </a:fld>
            <a:endParaRPr lang="en-US"/>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11"/>
          <p:cNvSpPr>
            <a:spLocks noGrp="1" noChangeArrowheads="1"/>
          </p:cNvSpPr>
          <p:nvPr>
            <p:ph type="sldNum" sz="quarter" idx="10"/>
          </p:nvPr>
        </p:nvSpPr>
        <p:spPr>
          <a:ln/>
        </p:spPr>
        <p:txBody>
          <a:bodyPr/>
          <a:lstStyle>
            <a:lvl1pPr>
              <a:defRPr/>
            </a:lvl1pPr>
          </a:lstStyle>
          <a:p>
            <a:fld id="{2BC0F03C-F45D-4B4D-89C0-FE3468FE9F13}" type="slidenum">
              <a:rPr lang="en-US" smtClean="0"/>
              <a:pPr/>
              <a:t>‹#›</a:t>
            </a:fld>
            <a:endParaRPr lang="en-US"/>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11"/>
          <p:cNvSpPr>
            <a:spLocks noGrp="1" noChangeArrowheads="1"/>
          </p:cNvSpPr>
          <p:nvPr>
            <p:ph type="sldNum" sz="quarter" idx="10"/>
          </p:nvPr>
        </p:nvSpPr>
        <p:spPr>
          <a:ln/>
        </p:spPr>
        <p:txBody>
          <a:bodyPr/>
          <a:lstStyle>
            <a:lvl1pPr>
              <a:defRPr/>
            </a:lvl1pPr>
          </a:lstStyle>
          <a:p>
            <a:fld id="{2BC0F03C-F45D-4B4D-89C0-FE3468FE9F13}" type="slidenum">
              <a:rPr lang="en-US" smtClean="0"/>
              <a:pPr/>
              <a:t>‹#›</a:t>
            </a:fld>
            <a:endParaRPr 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00850" y="152400"/>
            <a:ext cx="2038350" cy="61722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0" y="152400"/>
            <a:ext cx="5962650" cy="6172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11"/>
          <p:cNvSpPr>
            <a:spLocks noGrp="1" noChangeArrowheads="1"/>
          </p:cNvSpPr>
          <p:nvPr>
            <p:ph type="sldNum" sz="quarter" idx="10"/>
          </p:nvPr>
        </p:nvSpPr>
        <p:spPr>
          <a:ln/>
        </p:spPr>
        <p:txBody>
          <a:bodyPr/>
          <a:lstStyle>
            <a:lvl1pPr>
              <a:defRPr/>
            </a:lvl1pPr>
          </a:lstStyle>
          <a:p>
            <a:fld id="{2BC0F03C-F45D-4B4D-89C0-FE3468FE9F13}" type="slidenum">
              <a:rPr lang="en-US" smtClean="0"/>
              <a:pPr/>
              <a:t>‹#›</a:t>
            </a:fld>
            <a:endParaRPr lang="en-US"/>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00088" y="152400"/>
            <a:ext cx="8118475" cy="8382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85800" y="1295400"/>
            <a:ext cx="4000500" cy="5029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838700" y="1295400"/>
            <a:ext cx="4000500" cy="5029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11"/>
          <p:cNvSpPr>
            <a:spLocks noGrp="1" noChangeArrowheads="1"/>
          </p:cNvSpPr>
          <p:nvPr>
            <p:ph type="sldNum" sz="quarter" idx="10"/>
          </p:nvPr>
        </p:nvSpPr>
        <p:spPr>
          <a:ln/>
        </p:spPr>
        <p:txBody>
          <a:bodyPr/>
          <a:lstStyle>
            <a:lvl1pPr>
              <a:defRPr/>
            </a:lvl1pPr>
          </a:lstStyle>
          <a:p>
            <a:fld id="{2BC0F03C-F45D-4B4D-89C0-FE3468FE9F13}" type="slidenum">
              <a:rPr lang="en-US" smtClean="0"/>
              <a:pPr/>
              <a:t>‹#›</a:t>
            </a:fld>
            <a:endParaRPr lang="en-US"/>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x" preserve="1">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700088" y="152400"/>
            <a:ext cx="8118475" cy="838200"/>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295400"/>
            <a:ext cx="4000500" cy="5029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838700" y="1295400"/>
            <a:ext cx="4000500" cy="5029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11"/>
          <p:cNvSpPr>
            <a:spLocks noGrp="1" noChangeArrowheads="1"/>
          </p:cNvSpPr>
          <p:nvPr>
            <p:ph type="sldNum" sz="quarter" idx="10"/>
          </p:nvPr>
        </p:nvSpPr>
        <p:spPr>
          <a:ln/>
        </p:spPr>
        <p:txBody>
          <a:bodyPr/>
          <a:lstStyle>
            <a:lvl1pPr>
              <a:defRPr/>
            </a:lvl1pPr>
          </a:lstStyle>
          <a:p>
            <a:fld id="{2BC0F03C-F45D-4B4D-89C0-FE3468FE9F13}" type="slidenum">
              <a:rPr lang="en-US" smtClean="0"/>
              <a:pPr/>
              <a:t>‹#›</a:t>
            </a:fld>
            <a:endParaRPr lang="en-US"/>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700088" y="152400"/>
            <a:ext cx="8118475" cy="8382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85800" y="1295400"/>
            <a:ext cx="4000500" cy="5029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838700" y="1295400"/>
            <a:ext cx="4000500" cy="2438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838700" y="3886200"/>
            <a:ext cx="4000500" cy="2438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Rectangle 11"/>
          <p:cNvSpPr>
            <a:spLocks noGrp="1" noChangeArrowheads="1"/>
          </p:cNvSpPr>
          <p:nvPr>
            <p:ph type="sldNum" sz="quarter" idx="10"/>
          </p:nvPr>
        </p:nvSpPr>
        <p:spPr>
          <a:ln/>
        </p:spPr>
        <p:txBody>
          <a:bodyPr/>
          <a:lstStyle>
            <a:lvl1pPr>
              <a:defRPr/>
            </a:lvl1pPr>
          </a:lstStyle>
          <a:p>
            <a:fld id="{2BC0F03C-F45D-4B4D-89C0-FE3468FE9F13}" type="slidenum">
              <a:rPr lang="en-US" smtClean="0"/>
              <a:pPr/>
              <a:t>‹#›</a:t>
            </a:fld>
            <a:endParaRPr lang="en-US"/>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1754188" y="512763"/>
            <a:ext cx="7083425" cy="13208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1296988" y="2019300"/>
            <a:ext cx="3579812" cy="22050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lipArt Placeholder 3"/>
          <p:cNvSpPr>
            <a:spLocks noGrp="1"/>
          </p:cNvSpPr>
          <p:nvPr>
            <p:ph type="clipArt" sz="half" idx="2"/>
          </p:nvPr>
        </p:nvSpPr>
        <p:spPr>
          <a:xfrm>
            <a:off x="5029200" y="2019300"/>
            <a:ext cx="3579813" cy="2205038"/>
          </a:xfrm>
        </p:spPr>
        <p:txBody>
          <a:bodyPr/>
          <a:lstStyle/>
          <a:p>
            <a:pPr lvl="0"/>
            <a:r>
              <a:rPr lang="en-US" noProof="0" smtClean="0"/>
              <a:t>Click icon to add clip art</a:t>
            </a:r>
            <a:endParaRPr lang="en-US" noProof="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clipArtAndTx">
  <p:cSld name="Title, Clip 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1754188" y="512763"/>
            <a:ext cx="7083425" cy="1320800"/>
          </a:xfrm>
        </p:spPr>
        <p:txBody>
          <a:bodyPr/>
          <a:lstStyle/>
          <a:p>
            <a:r>
              <a:rPr lang="en-US" smtClean="0"/>
              <a:t>Click to edit Master title style</a:t>
            </a:r>
            <a:endParaRPr lang="en-US"/>
          </a:p>
        </p:txBody>
      </p:sp>
      <p:sp>
        <p:nvSpPr>
          <p:cNvPr id="3" name="ClipArt Placeholder 2"/>
          <p:cNvSpPr>
            <a:spLocks noGrp="1"/>
          </p:cNvSpPr>
          <p:nvPr>
            <p:ph type="clipArt" sz="half" idx="1"/>
          </p:nvPr>
        </p:nvSpPr>
        <p:spPr>
          <a:xfrm>
            <a:off x="1296988" y="2019300"/>
            <a:ext cx="3579812" cy="2205038"/>
          </a:xfrm>
        </p:spPr>
        <p:txBody>
          <a:bodyPr/>
          <a:lstStyle/>
          <a:p>
            <a:pPr lvl="0"/>
            <a:r>
              <a:rPr lang="en-US" noProof="0" smtClean="0"/>
              <a:t>Click icon to add clip art</a:t>
            </a:r>
            <a:endParaRPr lang="en-US" noProof="0"/>
          </a:p>
        </p:txBody>
      </p:sp>
      <p:sp>
        <p:nvSpPr>
          <p:cNvPr id="4" name="Text Placeholder 3"/>
          <p:cNvSpPr>
            <a:spLocks noGrp="1"/>
          </p:cNvSpPr>
          <p:nvPr>
            <p:ph type="body" sz="half" idx="2"/>
          </p:nvPr>
        </p:nvSpPr>
        <p:spPr>
          <a:xfrm>
            <a:off x="5029200" y="2019300"/>
            <a:ext cx="3579813" cy="22050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57200" y="274638"/>
            <a:ext cx="8229600" cy="5851525"/>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3" name="Rectangle 11"/>
          <p:cNvSpPr>
            <a:spLocks noGrp="1" noChangeArrowheads="1"/>
          </p:cNvSpPr>
          <p:nvPr>
            <p:ph type="sldNum" sz="quarter" idx="10"/>
          </p:nvPr>
        </p:nvSpPr>
        <p:spPr>
          <a:ln/>
        </p:spPr>
        <p:txBody>
          <a:bodyPr/>
          <a:lstStyle>
            <a:lvl1pPr>
              <a:defRPr/>
            </a:lvl1pPr>
          </a:lstStyle>
          <a:p>
            <a:fld id="{2BC0F03C-F45D-4B4D-89C0-FE3468FE9F13}" type="slidenum">
              <a:rPr lang="en-US" smtClean="0"/>
              <a:pPr/>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457200" y="533400"/>
            <a:ext cx="8229600" cy="731838"/>
          </a:xfrm>
        </p:spPr>
        <p:txBody>
          <a:bodyPr/>
          <a:lstStyle/>
          <a:p>
            <a:r>
              <a:rPr lang="en-US" smtClean="0"/>
              <a:t>Click to edit Master title style</a:t>
            </a:r>
            <a:endParaRPr lang="en-US"/>
          </a:p>
        </p:txBody>
      </p:sp>
      <p:sp>
        <p:nvSpPr>
          <p:cNvPr id="3" name="Content Placeholder 2"/>
          <p:cNvSpPr>
            <a:spLocks noGrp="1"/>
          </p:cNvSpPr>
          <p:nvPr>
            <p:ph sz="quarter" idx="1"/>
          </p:nvPr>
        </p:nvSpPr>
        <p:spPr>
          <a:xfrm>
            <a:off x="457200" y="1371600"/>
            <a:ext cx="4038600" cy="20955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648200" y="1371600"/>
            <a:ext cx="4038600" cy="20955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57200" y="3619500"/>
            <a:ext cx="4038600" cy="20955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Content Placeholder 5"/>
          <p:cNvSpPr>
            <a:spLocks noGrp="1"/>
          </p:cNvSpPr>
          <p:nvPr>
            <p:ph sz="quarter" idx="4"/>
          </p:nvPr>
        </p:nvSpPr>
        <p:spPr>
          <a:xfrm>
            <a:off x="4648200" y="3619500"/>
            <a:ext cx="4038600" cy="20955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Slide Number Placeholder 6"/>
          <p:cNvSpPr>
            <a:spLocks noGrp="1"/>
          </p:cNvSpPr>
          <p:nvPr>
            <p:ph type="sldNum" sz="quarter" idx="10"/>
          </p:nvPr>
        </p:nvSpPr>
        <p:spPr>
          <a:xfrm>
            <a:off x="6705600" y="5943600"/>
            <a:ext cx="2133600" cy="476250"/>
          </a:xfrm>
        </p:spPr>
        <p:txBody>
          <a:bodyPr/>
          <a:lstStyle>
            <a:lvl1pPr>
              <a:defRPr/>
            </a:lvl1pPr>
          </a:lstStyle>
          <a:p>
            <a:fld id="{2BC0F03C-F45D-4B4D-89C0-FE3468FE9F13}" type="slidenum">
              <a:rPr lang="en-US" smtClean="0"/>
              <a:pPr/>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OverTx">
  <p:cSld name="Title and 2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731838"/>
          </a:xfrm>
        </p:spPr>
        <p:txBody>
          <a:bodyPr/>
          <a:lstStyle/>
          <a:p>
            <a:r>
              <a:rPr lang="en-US" smtClean="0"/>
              <a:t>Click to edit Master title style</a:t>
            </a:r>
            <a:endParaRPr lang="en-US"/>
          </a:p>
        </p:txBody>
      </p:sp>
      <p:sp>
        <p:nvSpPr>
          <p:cNvPr id="3" name="Content Placeholder 2"/>
          <p:cNvSpPr>
            <a:spLocks noGrp="1"/>
          </p:cNvSpPr>
          <p:nvPr>
            <p:ph sz="quarter" idx="1"/>
          </p:nvPr>
        </p:nvSpPr>
        <p:spPr>
          <a:xfrm>
            <a:off x="457200" y="1371600"/>
            <a:ext cx="4038600" cy="20955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648200" y="1371600"/>
            <a:ext cx="4038600" cy="20955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half" idx="3"/>
          </p:nvPr>
        </p:nvSpPr>
        <p:spPr>
          <a:xfrm>
            <a:off x="457200" y="3619500"/>
            <a:ext cx="8229600" cy="20955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Slide Number Placeholder 5"/>
          <p:cNvSpPr>
            <a:spLocks noGrp="1"/>
          </p:cNvSpPr>
          <p:nvPr>
            <p:ph type="sldNum" sz="quarter" idx="10"/>
          </p:nvPr>
        </p:nvSpPr>
        <p:spPr>
          <a:xfrm>
            <a:off x="6705600" y="5943600"/>
            <a:ext cx="2133600" cy="476250"/>
          </a:xfrm>
        </p:spPr>
        <p:txBody>
          <a:bodyPr/>
          <a:lstStyle>
            <a:lvl1pPr>
              <a:defRPr/>
            </a:lvl1pPr>
          </a:lstStyle>
          <a:p>
            <a:fld id="{2BC0F03C-F45D-4B4D-89C0-FE3468FE9F13}" type="slidenum">
              <a:rPr lang="en-US" smtClean="0"/>
              <a:pPr/>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731838"/>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371600"/>
            <a:ext cx="4038600" cy="4343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648200" y="1371600"/>
            <a:ext cx="4038600" cy="20955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648200" y="3619500"/>
            <a:ext cx="4038600" cy="20955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Slide Number Placeholder 5"/>
          <p:cNvSpPr>
            <a:spLocks noGrp="1"/>
          </p:cNvSpPr>
          <p:nvPr>
            <p:ph type="sldNum" sz="quarter" idx="10"/>
          </p:nvPr>
        </p:nvSpPr>
        <p:spPr>
          <a:xfrm>
            <a:off x="6705600" y="5943600"/>
            <a:ext cx="2133600" cy="476250"/>
          </a:xfrm>
        </p:spPr>
        <p:txBody>
          <a:bodyPr/>
          <a:lstStyle>
            <a:lvl1pPr>
              <a:defRPr/>
            </a:lvl1pPr>
          </a:lstStyle>
          <a:p>
            <a:fld id="{2BC0F03C-F45D-4B4D-89C0-FE3468FE9F13}" type="slidenum">
              <a:rPr lang="en-US" smtClean="0"/>
              <a:pPr/>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639763"/>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457200" y="1600200"/>
            <a:ext cx="8229600" cy="4525963"/>
          </a:xfrm>
        </p:spPr>
        <p:txBody>
          <a:bodyPr/>
          <a:lstStyle/>
          <a:p>
            <a:pPr lvl="0"/>
            <a:r>
              <a:rPr lang="en-US" noProof="0" smtClean="0"/>
              <a:t>Click icon to add table</a:t>
            </a:r>
            <a:endParaRPr lang="en-US" noProof="0"/>
          </a:p>
        </p:txBody>
      </p:sp>
      <p:sp>
        <p:nvSpPr>
          <p:cNvPr id="4" name="Slide Number Placeholder 3"/>
          <p:cNvSpPr>
            <a:spLocks noGrp="1"/>
          </p:cNvSpPr>
          <p:nvPr>
            <p:ph type="sldNum" sz="quarter" idx="10"/>
          </p:nvPr>
        </p:nvSpPr>
        <p:spPr>
          <a:xfrm>
            <a:off x="6553200" y="6172200"/>
            <a:ext cx="2133600" cy="476250"/>
          </a:xfrm>
        </p:spPr>
        <p:txBody>
          <a:bodyPr/>
          <a:lstStyle>
            <a:lvl1pPr>
              <a:defRPr/>
            </a:lvl1pPr>
          </a:lstStyle>
          <a:p>
            <a:fld id="{2BC0F03C-F45D-4B4D-89C0-FE3468FE9F13}" type="slidenum">
              <a:rPr lang="en-US" smtClean="0"/>
              <a:pPr/>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AndTx">
  <p:cSld name="Title, 2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lstStyle/>
          <a:p>
            <a:r>
              <a:rPr lang="en-US" smtClean="0"/>
              <a:t>Click to edit Master title style</a:t>
            </a:r>
            <a:endParaRPr lang="en-US"/>
          </a:p>
        </p:txBody>
      </p:sp>
      <p:sp>
        <p:nvSpPr>
          <p:cNvPr id="3" name="Content Placeholder 2"/>
          <p:cNvSpPr>
            <a:spLocks noGrp="1"/>
          </p:cNvSpPr>
          <p:nvPr>
            <p:ph sz="quarter" idx="1"/>
          </p:nvPr>
        </p:nvSpPr>
        <p:spPr>
          <a:xfrm>
            <a:off x="457200" y="1600200"/>
            <a:ext cx="4038600" cy="21859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57200" y="3938588"/>
            <a:ext cx="4038600" cy="21875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half" idx="3"/>
          </p:nvPr>
        </p:nvSpPr>
        <p:spPr>
          <a:xfrm>
            <a:off x="4648200" y="1600200"/>
            <a:ext cx="40386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OverTx">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8229600" cy="21859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3938588"/>
            <a:ext cx="8229600" cy="21875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17251" name="Rectangle 3"/>
          <p:cNvSpPr>
            <a:spLocks noGrp="1" noChangeArrowheads="1"/>
          </p:cNvSpPr>
          <p:nvPr>
            <p:ph type="title"/>
          </p:nvPr>
        </p:nvSpPr>
        <p:spPr bwMode="auto">
          <a:xfrm>
            <a:off x="700088" y="152400"/>
            <a:ext cx="8118475" cy="838200"/>
          </a:xfrm>
          <a:prstGeom prst="rect">
            <a:avLst/>
          </a:prstGeom>
          <a:noFill/>
          <a:ln w="9525">
            <a:noFill/>
            <a:miter lim="800000"/>
            <a:headEnd/>
            <a:tailEnd/>
          </a:ln>
          <a:effectLst>
            <a:outerShdw dist="12700" dir="5400000" algn="ctr" rotWithShape="0">
              <a:schemeClr val="tx1"/>
            </a:outerShdw>
          </a:effectLst>
        </p:spPr>
        <p:txBody>
          <a:bodyPr vert="horz" wrap="square" lIns="91440" tIns="45720" rIns="91440" bIns="45720" numCol="1" anchor="b" anchorCtr="0" compatLnSpc="1">
            <a:prstTxWarp prst="textNoShape">
              <a:avLst/>
            </a:prstTxWarp>
          </a:bodyPr>
          <a:lstStyle/>
          <a:p>
            <a:pPr lvl="0"/>
            <a:r>
              <a:rPr lang="en-US" altLang="en-US" smtClean="0"/>
              <a:t>Click to edit Master title style</a:t>
            </a:r>
          </a:p>
        </p:txBody>
      </p:sp>
      <p:sp>
        <p:nvSpPr>
          <p:cNvPr id="29699" name="Rectangle 4"/>
          <p:cNvSpPr>
            <a:spLocks noGrp="1" noChangeArrowheads="1"/>
          </p:cNvSpPr>
          <p:nvPr>
            <p:ph type="body" idx="1"/>
          </p:nvPr>
        </p:nvSpPr>
        <p:spPr bwMode="auto">
          <a:xfrm>
            <a:off x="685800" y="1295400"/>
            <a:ext cx="8153400" cy="5029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717254" name="Rectangle 6"/>
          <p:cNvSpPr>
            <a:spLocks noChangeArrowheads="1"/>
          </p:cNvSpPr>
          <p:nvPr/>
        </p:nvSpPr>
        <p:spPr bwMode="auto">
          <a:xfrm>
            <a:off x="0" y="0"/>
            <a:ext cx="533400" cy="6858000"/>
          </a:xfrm>
          <a:prstGeom prst="rect">
            <a:avLst/>
          </a:prstGeom>
          <a:solidFill>
            <a:srgbClr val="FF3600"/>
          </a:solidFill>
          <a:ln w="9525">
            <a:noFill/>
            <a:miter lim="800000"/>
            <a:headEnd type="none" w="sm" len="sm"/>
            <a:tailEnd type="none" w="sm" len="sm"/>
          </a:ln>
          <a:effectLst/>
        </p:spPr>
        <p:txBody>
          <a:bodyPr wrap="none" anchor="ctr"/>
          <a:lstStyle/>
          <a:p>
            <a:pPr>
              <a:defRPr/>
            </a:pPr>
            <a:endParaRPr lang="en-US">
              <a:latin typeface="Arial" charset="0"/>
            </a:endParaRPr>
          </a:p>
        </p:txBody>
      </p:sp>
      <p:sp>
        <p:nvSpPr>
          <p:cNvPr id="1717255" name="Line 7"/>
          <p:cNvSpPr>
            <a:spLocks noChangeShapeType="1"/>
          </p:cNvSpPr>
          <p:nvPr/>
        </p:nvSpPr>
        <p:spPr bwMode="auto">
          <a:xfrm>
            <a:off x="0" y="1143000"/>
            <a:ext cx="9144000" cy="0"/>
          </a:xfrm>
          <a:prstGeom prst="line">
            <a:avLst/>
          </a:prstGeom>
          <a:noFill/>
          <a:ln w="92075">
            <a:solidFill>
              <a:schemeClr val="tx1"/>
            </a:solidFill>
            <a:round/>
            <a:headEnd/>
            <a:tailEnd/>
          </a:ln>
          <a:effectLst/>
        </p:spPr>
        <p:txBody>
          <a:bodyPr wrap="none" anchor="ctr"/>
          <a:lstStyle/>
          <a:p>
            <a:pPr>
              <a:defRPr/>
            </a:pPr>
            <a:endParaRPr lang="en-US">
              <a:latin typeface="Arial" charset="0"/>
            </a:endParaRPr>
          </a:p>
        </p:txBody>
      </p:sp>
      <p:pic>
        <p:nvPicPr>
          <p:cNvPr id="29702" name="Picture 10" descr="bobcat_logo_blk"/>
          <p:cNvPicPr>
            <a:picLocks noChangeAspect="1" noChangeArrowheads="1"/>
          </p:cNvPicPr>
          <p:nvPr/>
        </p:nvPicPr>
        <p:blipFill>
          <a:blip r:embed="rId25" cstate="print"/>
          <a:srcRect/>
          <a:stretch>
            <a:fillRect/>
          </a:stretch>
        </p:blipFill>
        <p:spPr bwMode="auto">
          <a:xfrm>
            <a:off x="762000" y="6262688"/>
            <a:ext cx="1665890" cy="595312"/>
          </a:xfrm>
          <a:prstGeom prst="rect">
            <a:avLst/>
          </a:prstGeom>
          <a:noFill/>
          <a:ln w="9525">
            <a:noFill/>
            <a:miter lim="800000"/>
            <a:headEnd/>
            <a:tailEnd/>
          </a:ln>
        </p:spPr>
      </p:pic>
      <p:sp>
        <p:nvSpPr>
          <p:cNvPr id="1717259" name="Rectangle 11"/>
          <p:cNvSpPr>
            <a:spLocks noGrp="1" noChangeArrowheads="1"/>
          </p:cNvSpPr>
          <p:nvPr>
            <p:ph type="sldNum" sz="quarter" idx="4"/>
          </p:nvPr>
        </p:nvSpPr>
        <p:spPr bwMode="auto">
          <a:xfrm>
            <a:off x="6629400" y="6477000"/>
            <a:ext cx="2133600" cy="2476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solidFill>
                  <a:schemeClr val="tx1"/>
                </a:solidFill>
                <a:latin typeface="Arial" charset="0"/>
              </a:defRPr>
            </a:lvl1pPr>
          </a:lstStyle>
          <a:p>
            <a:fld id="{2BC0F03C-F45D-4B4D-89C0-FE3468FE9F13}"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Lst>
  <p:transition/>
  <p:txStyles>
    <p:titleStyle>
      <a:lvl1pPr algn="l" rtl="0" eaLnBrk="1" fontAlgn="base" hangingPunct="1">
        <a:spcBef>
          <a:spcPct val="0"/>
        </a:spcBef>
        <a:spcAft>
          <a:spcPct val="0"/>
        </a:spcAft>
        <a:defRPr sz="3200" b="1">
          <a:solidFill>
            <a:schemeClr val="tx1"/>
          </a:solidFill>
          <a:effectLst>
            <a:outerShdw blurRad="38100" dist="38100" dir="2700000" algn="tl">
              <a:srgbClr val="C0C0C0"/>
            </a:outerShdw>
          </a:effectLst>
          <a:latin typeface="+mj-lt"/>
          <a:ea typeface="+mj-ea"/>
          <a:cs typeface="+mj-cs"/>
        </a:defRPr>
      </a:lvl1pPr>
      <a:lvl2pPr algn="l" rtl="0" eaLnBrk="1" fontAlgn="base" hangingPunct="1">
        <a:spcBef>
          <a:spcPct val="0"/>
        </a:spcBef>
        <a:spcAft>
          <a:spcPct val="0"/>
        </a:spcAft>
        <a:defRPr sz="3200" b="1">
          <a:solidFill>
            <a:schemeClr val="tx1"/>
          </a:solidFill>
          <a:effectLst>
            <a:outerShdw blurRad="38100" dist="38100" dir="2700000" algn="tl">
              <a:srgbClr val="C0C0C0"/>
            </a:outerShdw>
          </a:effectLst>
          <a:latin typeface="Tahoma" charset="0"/>
        </a:defRPr>
      </a:lvl2pPr>
      <a:lvl3pPr algn="l" rtl="0" eaLnBrk="1" fontAlgn="base" hangingPunct="1">
        <a:spcBef>
          <a:spcPct val="0"/>
        </a:spcBef>
        <a:spcAft>
          <a:spcPct val="0"/>
        </a:spcAft>
        <a:defRPr sz="3200" b="1">
          <a:solidFill>
            <a:schemeClr val="tx1"/>
          </a:solidFill>
          <a:effectLst>
            <a:outerShdw blurRad="38100" dist="38100" dir="2700000" algn="tl">
              <a:srgbClr val="C0C0C0"/>
            </a:outerShdw>
          </a:effectLst>
          <a:latin typeface="Tahoma" charset="0"/>
        </a:defRPr>
      </a:lvl3pPr>
      <a:lvl4pPr algn="l" rtl="0" eaLnBrk="1" fontAlgn="base" hangingPunct="1">
        <a:spcBef>
          <a:spcPct val="0"/>
        </a:spcBef>
        <a:spcAft>
          <a:spcPct val="0"/>
        </a:spcAft>
        <a:defRPr sz="3200" b="1">
          <a:solidFill>
            <a:schemeClr val="tx1"/>
          </a:solidFill>
          <a:effectLst>
            <a:outerShdw blurRad="38100" dist="38100" dir="2700000" algn="tl">
              <a:srgbClr val="C0C0C0"/>
            </a:outerShdw>
          </a:effectLst>
          <a:latin typeface="Tahoma" charset="0"/>
        </a:defRPr>
      </a:lvl4pPr>
      <a:lvl5pPr algn="l" rtl="0" eaLnBrk="1" fontAlgn="base" hangingPunct="1">
        <a:spcBef>
          <a:spcPct val="0"/>
        </a:spcBef>
        <a:spcAft>
          <a:spcPct val="0"/>
        </a:spcAft>
        <a:defRPr sz="3200" b="1">
          <a:solidFill>
            <a:schemeClr val="tx1"/>
          </a:solidFill>
          <a:effectLst>
            <a:outerShdw blurRad="38100" dist="38100" dir="2700000" algn="tl">
              <a:srgbClr val="C0C0C0"/>
            </a:outerShdw>
          </a:effectLst>
          <a:latin typeface="Tahoma" charset="0"/>
        </a:defRPr>
      </a:lvl5pPr>
      <a:lvl6pPr marL="457200" algn="l" rtl="0" eaLnBrk="1" fontAlgn="base" hangingPunct="1">
        <a:spcBef>
          <a:spcPct val="0"/>
        </a:spcBef>
        <a:spcAft>
          <a:spcPct val="0"/>
        </a:spcAft>
        <a:defRPr sz="3200" b="1">
          <a:solidFill>
            <a:schemeClr val="tx1"/>
          </a:solidFill>
          <a:effectLst>
            <a:outerShdw blurRad="38100" dist="38100" dir="2700000" algn="tl">
              <a:srgbClr val="C0C0C0"/>
            </a:outerShdw>
          </a:effectLst>
          <a:latin typeface="Tahoma" charset="0"/>
        </a:defRPr>
      </a:lvl6pPr>
      <a:lvl7pPr marL="914400" algn="l" rtl="0" eaLnBrk="1" fontAlgn="base" hangingPunct="1">
        <a:spcBef>
          <a:spcPct val="0"/>
        </a:spcBef>
        <a:spcAft>
          <a:spcPct val="0"/>
        </a:spcAft>
        <a:defRPr sz="3200" b="1">
          <a:solidFill>
            <a:schemeClr val="tx1"/>
          </a:solidFill>
          <a:effectLst>
            <a:outerShdw blurRad="38100" dist="38100" dir="2700000" algn="tl">
              <a:srgbClr val="C0C0C0"/>
            </a:outerShdw>
          </a:effectLst>
          <a:latin typeface="Tahoma" charset="0"/>
        </a:defRPr>
      </a:lvl7pPr>
      <a:lvl8pPr marL="1371600" algn="l" rtl="0" eaLnBrk="1" fontAlgn="base" hangingPunct="1">
        <a:spcBef>
          <a:spcPct val="0"/>
        </a:spcBef>
        <a:spcAft>
          <a:spcPct val="0"/>
        </a:spcAft>
        <a:defRPr sz="3200" b="1">
          <a:solidFill>
            <a:schemeClr val="tx1"/>
          </a:solidFill>
          <a:effectLst>
            <a:outerShdw blurRad="38100" dist="38100" dir="2700000" algn="tl">
              <a:srgbClr val="C0C0C0"/>
            </a:outerShdw>
          </a:effectLst>
          <a:latin typeface="Tahoma" charset="0"/>
        </a:defRPr>
      </a:lvl8pPr>
      <a:lvl9pPr marL="1828800" algn="l" rtl="0" eaLnBrk="1" fontAlgn="base" hangingPunct="1">
        <a:spcBef>
          <a:spcPct val="0"/>
        </a:spcBef>
        <a:spcAft>
          <a:spcPct val="0"/>
        </a:spcAft>
        <a:defRPr sz="3200" b="1">
          <a:solidFill>
            <a:schemeClr val="tx1"/>
          </a:solidFill>
          <a:effectLst>
            <a:outerShdw blurRad="38100" dist="38100" dir="2700000" algn="tl">
              <a:srgbClr val="C0C0C0"/>
            </a:outerShdw>
          </a:effectLst>
          <a:latin typeface="Tahoma" charset="0"/>
        </a:defRPr>
      </a:lvl9pPr>
    </p:titleStyle>
    <p:bodyStyle>
      <a:lvl1pPr marL="342900" indent="-342900" algn="l" rtl="0" eaLnBrk="1" fontAlgn="base" hangingPunct="1">
        <a:spcBef>
          <a:spcPct val="20000"/>
        </a:spcBef>
        <a:spcAft>
          <a:spcPct val="0"/>
        </a:spcAft>
        <a:buChar char="•"/>
        <a:defRPr sz="28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400">
          <a:solidFill>
            <a:schemeClr val="tx1"/>
          </a:solidFill>
          <a:latin typeface="+mn-lt"/>
        </a:defRPr>
      </a:lvl2pPr>
      <a:lvl3pPr marL="1143000" indent="-228600" algn="l" rtl="0" eaLnBrk="1" fontAlgn="base" hangingPunct="1">
        <a:spcBef>
          <a:spcPct val="20000"/>
        </a:spcBef>
        <a:spcAft>
          <a:spcPct val="0"/>
        </a:spcAft>
        <a:buChar char="•"/>
        <a:defRPr sz="2000">
          <a:solidFill>
            <a:schemeClr val="tx1"/>
          </a:solidFill>
          <a:latin typeface="+mn-lt"/>
        </a:defRPr>
      </a:lvl3pPr>
      <a:lvl4pPr marL="1600200" indent="-228600" algn="l" rtl="0" eaLnBrk="1" fontAlgn="base" hangingPunct="1">
        <a:spcBef>
          <a:spcPct val="20000"/>
        </a:spcBef>
        <a:spcAft>
          <a:spcPct val="0"/>
        </a:spcAft>
        <a:buChar char="–"/>
        <a:defRPr>
          <a:solidFill>
            <a:schemeClr val="tx1"/>
          </a:solidFill>
          <a:latin typeface="+mn-lt"/>
        </a:defRPr>
      </a:lvl4pPr>
      <a:lvl5pPr marL="2057400" indent="-228600" algn="l" rtl="0" eaLnBrk="1" fontAlgn="base" hangingPunct="1">
        <a:spcBef>
          <a:spcPct val="20000"/>
        </a:spcBef>
        <a:spcAft>
          <a:spcPct val="0"/>
        </a:spcAft>
        <a:buChar char="»"/>
        <a:defRPr>
          <a:solidFill>
            <a:schemeClr val="tx1"/>
          </a:solidFill>
          <a:latin typeface="+mn-lt"/>
        </a:defRPr>
      </a:lvl5pPr>
      <a:lvl6pPr marL="2514600" indent="-228600" algn="l" rtl="0" eaLnBrk="1" fontAlgn="base" hangingPunct="1">
        <a:spcBef>
          <a:spcPct val="20000"/>
        </a:spcBef>
        <a:spcAft>
          <a:spcPct val="0"/>
        </a:spcAft>
        <a:buChar char="»"/>
        <a:defRPr>
          <a:solidFill>
            <a:schemeClr val="tx1"/>
          </a:solidFill>
          <a:latin typeface="+mn-lt"/>
        </a:defRPr>
      </a:lvl6pPr>
      <a:lvl7pPr marL="2971800" indent="-228600" algn="l" rtl="0" eaLnBrk="1" fontAlgn="base" hangingPunct="1">
        <a:spcBef>
          <a:spcPct val="20000"/>
        </a:spcBef>
        <a:spcAft>
          <a:spcPct val="0"/>
        </a:spcAft>
        <a:buChar char="»"/>
        <a:defRPr>
          <a:solidFill>
            <a:schemeClr val="tx1"/>
          </a:solidFill>
          <a:latin typeface="+mn-lt"/>
        </a:defRPr>
      </a:lvl7pPr>
      <a:lvl8pPr marL="3429000" indent="-228600" algn="l" rtl="0" eaLnBrk="1" fontAlgn="base" hangingPunct="1">
        <a:spcBef>
          <a:spcPct val="20000"/>
        </a:spcBef>
        <a:spcAft>
          <a:spcPct val="0"/>
        </a:spcAft>
        <a:buChar char="»"/>
        <a:defRPr>
          <a:solidFill>
            <a:schemeClr val="tx1"/>
          </a:solidFill>
          <a:latin typeface="+mn-lt"/>
        </a:defRPr>
      </a:lvl8pPr>
      <a:lvl9pPr marL="3886200" indent="-228600" algn="l" rtl="0" eaLnBrk="1" fontAlgn="base" hangingPunct="1">
        <a:spcBef>
          <a:spcPct val="20000"/>
        </a:spcBef>
        <a:spcAft>
          <a:spcPct val="0"/>
        </a:spcAft>
        <a:buChar char="»"/>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16"/>
          <p:cNvSpPr>
            <a:spLocks noGrp="1" noChangeArrowheads="1"/>
          </p:cNvSpPr>
          <p:nvPr>
            <p:ph type="sldNum" sz="quarter" idx="4294967295"/>
          </p:nvPr>
        </p:nvSpPr>
        <p:spPr>
          <a:xfrm>
            <a:off x="6858000" y="6248400"/>
            <a:ext cx="1905000" cy="457200"/>
          </a:xfrm>
          <a:prstGeom prst="rect">
            <a:avLst/>
          </a:prstGeom>
          <a:noFill/>
        </p:spPr>
        <p:txBody>
          <a:bodyPr/>
          <a:lstStyle>
            <a:lvl1pPr eaLnBrk="0" hangingPunct="0">
              <a:spcBef>
                <a:spcPct val="20000"/>
              </a:spcBef>
              <a:buClr>
                <a:schemeClr val="folHlink"/>
              </a:buClr>
              <a:buSzPct val="60000"/>
              <a:buFont typeface="Wingdings" pitchFamily="2" charset="2"/>
              <a:buChar char="n"/>
              <a:defRPr sz="3200">
                <a:solidFill>
                  <a:schemeClr val="tx1"/>
                </a:solidFill>
                <a:latin typeface="Tahoma" pitchFamily="34" charset="0"/>
              </a:defRPr>
            </a:lvl1pPr>
            <a:lvl2pPr marL="742950" indent="-285750" eaLnBrk="0" hangingPunct="0">
              <a:spcBef>
                <a:spcPct val="20000"/>
              </a:spcBef>
              <a:buClr>
                <a:schemeClr val="hlink"/>
              </a:buClr>
              <a:buSzPct val="55000"/>
              <a:buFont typeface="Wingdings" pitchFamily="2" charset="2"/>
              <a:buChar char="n"/>
              <a:defRPr sz="2800">
                <a:solidFill>
                  <a:schemeClr val="tx1"/>
                </a:solidFill>
                <a:latin typeface="Tahoma"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Tahoma" pitchFamily="34" charset="0"/>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eaLnBrk="1" hangingPunct="1">
              <a:spcBef>
                <a:spcPct val="0"/>
              </a:spcBef>
              <a:buClrTx/>
              <a:buSzTx/>
              <a:buFontTx/>
              <a:buNone/>
            </a:pPr>
            <a:fld id="{33AF7F84-06C8-4943-B9B3-39FA5E0BE197}" type="slidenum">
              <a:rPr lang="en-US" altLang="en-US" sz="1400" smtClean="0">
                <a:solidFill>
                  <a:schemeClr val="bg2"/>
                </a:solidFill>
              </a:rPr>
              <a:pPr eaLnBrk="1" hangingPunct="1">
                <a:spcBef>
                  <a:spcPct val="0"/>
                </a:spcBef>
                <a:buClrTx/>
                <a:buSzTx/>
                <a:buFontTx/>
                <a:buNone/>
              </a:pPr>
              <a:t>1</a:t>
            </a:fld>
            <a:endParaRPr lang="en-US" altLang="en-US" sz="1400" smtClean="0">
              <a:solidFill>
                <a:schemeClr val="bg2"/>
              </a:solidFill>
            </a:endParaRPr>
          </a:p>
        </p:txBody>
      </p:sp>
      <p:sp>
        <p:nvSpPr>
          <p:cNvPr id="3075" name="Rectangle 2"/>
          <p:cNvSpPr>
            <a:spLocks noGrp="1" noChangeArrowheads="1"/>
          </p:cNvSpPr>
          <p:nvPr>
            <p:ph type="ctrTitle"/>
          </p:nvPr>
        </p:nvSpPr>
        <p:spPr/>
        <p:txBody>
          <a:bodyPr/>
          <a:lstStyle/>
          <a:p>
            <a:pPr eaLnBrk="1" hangingPunct="1"/>
            <a:r>
              <a:rPr lang="en-US" altLang="en-US" dirty="0" smtClean="0"/>
              <a:t>Fundamentals of </a:t>
            </a:r>
            <a:br>
              <a:rPr lang="en-US" altLang="en-US" dirty="0" smtClean="0"/>
            </a:br>
            <a:r>
              <a:rPr lang="en-US" altLang="en-US" dirty="0" smtClean="0"/>
              <a:t>Heat Transfer </a:t>
            </a:r>
          </a:p>
        </p:txBody>
      </p:sp>
      <p:sp>
        <p:nvSpPr>
          <p:cNvPr id="3076" name="Rectangle 3"/>
          <p:cNvSpPr>
            <a:spLocks noGrp="1" noChangeArrowheads="1"/>
          </p:cNvSpPr>
          <p:nvPr>
            <p:ph type="subTitle" idx="1"/>
          </p:nvPr>
        </p:nvSpPr>
        <p:spPr/>
        <p:txBody>
          <a:bodyPr/>
          <a:lstStyle/>
          <a:p>
            <a:pPr eaLnBrk="1" hangingPunct="1"/>
            <a:endParaRPr lang="en-US" altLang="en-US" smtClean="0"/>
          </a:p>
          <a:p>
            <a:pPr eaLnBrk="1" hangingPunct="1"/>
            <a:endParaRPr lang="en-US" altLang="en-US" smtClean="0"/>
          </a:p>
        </p:txBody>
      </p:sp>
    </p:spTree>
    <p:extLst>
      <p:ext uri="{BB962C8B-B14F-4D97-AF65-F5344CB8AC3E}">
        <p14:creationId xmlns:p14="http://schemas.microsoft.com/office/powerpoint/2010/main" val="2638801344"/>
      </p:ext>
    </p:extLst>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Number Placeholder 3"/>
          <p:cNvSpPr>
            <a:spLocks noGrp="1"/>
          </p:cNvSpPr>
          <p:nvPr>
            <p:ph type="sldNum" sz="quarter" idx="4294967295"/>
          </p:nvPr>
        </p:nvSpPr>
        <p:spPr>
          <a:xfrm>
            <a:off x="6781800" y="6324600"/>
            <a:ext cx="1905000" cy="457200"/>
          </a:xfrm>
          <a:prstGeom prst="rect">
            <a:avLst/>
          </a:prstGeom>
          <a:noFill/>
        </p:spPr>
        <p:txBody>
          <a:bodyPr/>
          <a:lstStyle>
            <a:lvl1pPr eaLnBrk="0" hangingPunct="0">
              <a:spcBef>
                <a:spcPct val="20000"/>
              </a:spcBef>
              <a:buClr>
                <a:schemeClr val="folHlink"/>
              </a:buClr>
              <a:buSzPct val="60000"/>
              <a:buFont typeface="Wingdings" pitchFamily="2" charset="2"/>
              <a:buChar char="n"/>
              <a:defRPr sz="3200">
                <a:solidFill>
                  <a:schemeClr val="tx1"/>
                </a:solidFill>
                <a:latin typeface="Tahoma" pitchFamily="34" charset="0"/>
              </a:defRPr>
            </a:lvl1pPr>
            <a:lvl2pPr marL="742950" indent="-285750" eaLnBrk="0" hangingPunct="0">
              <a:spcBef>
                <a:spcPct val="20000"/>
              </a:spcBef>
              <a:buClr>
                <a:schemeClr val="hlink"/>
              </a:buClr>
              <a:buSzPct val="55000"/>
              <a:buFont typeface="Wingdings" pitchFamily="2" charset="2"/>
              <a:buChar char="n"/>
              <a:defRPr sz="2800">
                <a:solidFill>
                  <a:schemeClr val="tx1"/>
                </a:solidFill>
                <a:latin typeface="Tahoma"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Tahoma" pitchFamily="34" charset="0"/>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eaLnBrk="1" hangingPunct="1">
              <a:spcBef>
                <a:spcPct val="0"/>
              </a:spcBef>
              <a:buClrTx/>
              <a:buSzTx/>
              <a:buFontTx/>
              <a:buNone/>
            </a:pPr>
            <a:fld id="{483BBA8C-F601-4507-9BA7-B61BE1479EA7}" type="slidenum">
              <a:rPr lang="en-US" altLang="en-US" sz="1400" smtClean="0"/>
              <a:pPr eaLnBrk="1" hangingPunct="1">
                <a:spcBef>
                  <a:spcPct val="0"/>
                </a:spcBef>
                <a:buClrTx/>
                <a:buSzTx/>
                <a:buFontTx/>
                <a:buNone/>
              </a:pPr>
              <a:t>2</a:t>
            </a:fld>
            <a:endParaRPr lang="en-US" altLang="en-US" sz="1400" smtClean="0"/>
          </a:p>
        </p:txBody>
      </p:sp>
      <p:sp>
        <p:nvSpPr>
          <p:cNvPr id="4099" name="Rectangle 2"/>
          <p:cNvSpPr>
            <a:spLocks noGrp="1" noChangeArrowheads="1"/>
          </p:cNvSpPr>
          <p:nvPr>
            <p:ph type="title"/>
          </p:nvPr>
        </p:nvSpPr>
        <p:spPr/>
        <p:txBody>
          <a:bodyPr/>
          <a:lstStyle/>
          <a:p>
            <a:pPr eaLnBrk="1" hangingPunct="1"/>
            <a:r>
              <a:rPr lang="en-US" altLang="en-US" smtClean="0"/>
              <a:t>Heat Transfer</a:t>
            </a:r>
          </a:p>
        </p:txBody>
      </p:sp>
      <p:pic>
        <p:nvPicPr>
          <p:cNvPr id="4100" name="Picture 3" descr="HT, Intro"/>
          <p:cNvPicPr>
            <a:picLocks noChangeAspect="1" noChangeArrowheads="1"/>
          </p:cNvPicPr>
          <p:nvPr/>
        </p:nvPicPr>
        <p:blipFill>
          <a:blip r:embed="rId2">
            <a:extLst>
              <a:ext uri="{28A0092B-C50C-407E-A947-70E740481C1C}">
                <a14:useLocalDpi xmlns:a14="http://schemas.microsoft.com/office/drawing/2010/main" val="0"/>
              </a:ext>
            </a:extLst>
          </a:blip>
          <a:srcRect l="7463" b="9314"/>
          <a:stretch>
            <a:fillRect/>
          </a:stretch>
        </p:blipFill>
        <p:spPr bwMode="auto">
          <a:xfrm>
            <a:off x="4258284" y="1981200"/>
            <a:ext cx="4885715" cy="3389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01" name="Text Box 4"/>
          <p:cNvSpPr txBox="1">
            <a:spLocks noChangeArrowheads="1"/>
          </p:cNvSpPr>
          <p:nvPr/>
        </p:nvSpPr>
        <p:spPr bwMode="auto">
          <a:xfrm>
            <a:off x="542316" y="1524000"/>
            <a:ext cx="3801084"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lr>
                <a:schemeClr val="folHlink"/>
              </a:buClr>
              <a:buSzPct val="60000"/>
              <a:buFont typeface="Wingdings" pitchFamily="2" charset="2"/>
              <a:buChar char="n"/>
              <a:defRPr sz="3200">
                <a:solidFill>
                  <a:schemeClr val="tx1"/>
                </a:solidFill>
                <a:latin typeface="Tahoma" pitchFamily="34" charset="0"/>
              </a:defRPr>
            </a:lvl1pPr>
            <a:lvl2pPr marL="742950" indent="-285750" eaLnBrk="0" hangingPunct="0">
              <a:spcBef>
                <a:spcPct val="20000"/>
              </a:spcBef>
              <a:buClr>
                <a:schemeClr val="hlink"/>
              </a:buClr>
              <a:buSzPct val="55000"/>
              <a:buFont typeface="Wingdings" pitchFamily="2" charset="2"/>
              <a:buChar char="n"/>
              <a:defRPr sz="2800">
                <a:solidFill>
                  <a:schemeClr val="tx1"/>
                </a:solidFill>
                <a:latin typeface="Tahoma"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Tahoma" pitchFamily="34" charset="0"/>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eaLnBrk="1" hangingPunct="1">
              <a:spcBef>
                <a:spcPct val="50000"/>
              </a:spcBef>
              <a:buClrTx/>
              <a:buSzTx/>
              <a:buFontTx/>
              <a:buNone/>
            </a:pPr>
            <a:r>
              <a:rPr lang="en-US" altLang="en-US" sz="2400" b="1" i="1" dirty="0"/>
              <a:t>Mobile heating, ventilation, and air conditioning,  </a:t>
            </a:r>
            <a:r>
              <a:rPr lang="en-US" altLang="en-US" sz="2400" dirty="0"/>
              <a:t>MVAC systems are concerned with moving heat to or from the interior of a vehicle. Heat transfer involves moving something that we can feel but cannot see.            	</a:t>
            </a:r>
          </a:p>
        </p:txBody>
      </p:sp>
      <p:sp>
        <p:nvSpPr>
          <p:cNvPr id="4102" name="Rectangle 6"/>
          <p:cNvSpPr>
            <a:spLocks noChangeArrowheads="1"/>
          </p:cNvSpPr>
          <p:nvPr/>
        </p:nvSpPr>
        <p:spPr bwMode="auto">
          <a:xfrm>
            <a:off x="533400" y="5410200"/>
            <a:ext cx="84582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folHlink"/>
              </a:buClr>
              <a:buSzPct val="60000"/>
              <a:buFont typeface="Wingdings" pitchFamily="2" charset="2"/>
              <a:buChar char="n"/>
              <a:defRPr sz="3200">
                <a:solidFill>
                  <a:schemeClr val="tx1"/>
                </a:solidFill>
                <a:latin typeface="Tahoma" pitchFamily="34" charset="0"/>
              </a:defRPr>
            </a:lvl1pPr>
            <a:lvl2pPr marL="742950" indent="-285750" eaLnBrk="0" hangingPunct="0">
              <a:spcBef>
                <a:spcPct val="20000"/>
              </a:spcBef>
              <a:buClr>
                <a:schemeClr val="hlink"/>
              </a:buClr>
              <a:buSzPct val="55000"/>
              <a:buFont typeface="Wingdings" pitchFamily="2" charset="2"/>
              <a:buChar char="n"/>
              <a:defRPr sz="2800">
                <a:solidFill>
                  <a:schemeClr val="tx1"/>
                </a:solidFill>
                <a:latin typeface="Tahoma"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Tahoma" pitchFamily="34" charset="0"/>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eaLnBrk="1" hangingPunct="1">
              <a:spcBef>
                <a:spcPct val="50000"/>
              </a:spcBef>
              <a:buClrTx/>
              <a:buSzTx/>
              <a:buFontTx/>
              <a:buNone/>
            </a:pPr>
            <a:r>
              <a:rPr lang="en-US" altLang="en-US" sz="2400" dirty="0"/>
              <a:t>Understanding the principles of heat transfer helps a technician understand what happens within an A/C system. </a:t>
            </a:r>
          </a:p>
        </p:txBody>
      </p:sp>
    </p:spTree>
    <p:extLst>
      <p:ext uri="{BB962C8B-B14F-4D97-AF65-F5344CB8AC3E}">
        <p14:creationId xmlns:p14="http://schemas.microsoft.com/office/powerpoint/2010/main" val="602945520"/>
      </p:ext>
    </p:extLst>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p:cNvSpPr>
          <p:nvPr/>
        </p:nvSpPr>
        <p:spPr bwMode="auto">
          <a:xfrm>
            <a:off x="2006600" y="-228600"/>
            <a:ext cx="7899400" cy="161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pPr>
              <a:lnSpc>
                <a:spcPct val="80000"/>
              </a:lnSpc>
              <a:defRPr/>
            </a:pPr>
            <a:endParaRPr lang="en-US" sz="6000" dirty="0">
              <a:solidFill>
                <a:srgbClr val="AB220F"/>
              </a:solidFill>
              <a:effectLst>
                <a:outerShdw blurRad="38100" dist="38100" dir="2700000" algn="tl">
                  <a:srgbClr val="C0C0C0"/>
                </a:outerShdw>
              </a:effectLst>
              <a:latin typeface="Copperplate Gothic Bold" charset="0"/>
              <a:ea typeface="Copperplate Gothic Bold" charset="0"/>
              <a:cs typeface="Copperplate Gothic Bold" charset="0"/>
              <a:sym typeface="Copperplate Gothic Bold" charset="0"/>
            </a:endParaRPr>
          </a:p>
        </p:txBody>
      </p:sp>
      <p:sp>
        <p:nvSpPr>
          <p:cNvPr id="13" name="Title 12"/>
          <p:cNvSpPr>
            <a:spLocks noGrp="1"/>
          </p:cNvSpPr>
          <p:nvPr>
            <p:ph type="title"/>
          </p:nvPr>
        </p:nvSpPr>
        <p:spPr>
          <a:xfrm>
            <a:off x="2625725" y="76200"/>
            <a:ext cx="8118475" cy="838200"/>
          </a:xfrm>
        </p:spPr>
        <p:txBody>
          <a:bodyPr/>
          <a:lstStyle/>
          <a:p>
            <a:r>
              <a:rPr lang="en-US" altLang="en-US" dirty="0"/>
              <a:t>Heat Is Energy</a:t>
            </a:r>
            <a:endParaRPr lang="en-US" dirty="0"/>
          </a:p>
        </p:txBody>
      </p:sp>
      <p:sp>
        <p:nvSpPr>
          <p:cNvPr id="14" name="Content Placeholder 13"/>
          <p:cNvSpPr>
            <a:spLocks noGrp="1"/>
          </p:cNvSpPr>
          <p:nvPr>
            <p:ph idx="1"/>
          </p:nvPr>
        </p:nvSpPr>
        <p:spPr>
          <a:xfrm>
            <a:off x="914400" y="1600200"/>
            <a:ext cx="3581400" cy="3886200"/>
          </a:xfrm>
        </p:spPr>
        <p:txBody>
          <a:bodyPr/>
          <a:lstStyle/>
          <a:p>
            <a:pPr marL="0" indent="0">
              <a:buNone/>
            </a:pPr>
            <a:r>
              <a:rPr lang="en-US" altLang="en-US" dirty="0"/>
              <a:t>Heat, like other forms of energy, cannot be created nor destroyed. However, we have the ability to move it from one place to another</a:t>
            </a:r>
            <a:r>
              <a:rPr lang="en-US" altLang="en-US" dirty="0" smtClean="0"/>
              <a:t>.</a:t>
            </a:r>
            <a:endParaRPr lang="en-US" altLang="en-US" dirty="0"/>
          </a:p>
        </p:txBody>
      </p:sp>
      <p:pic>
        <p:nvPicPr>
          <p:cNvPr id="5" name="Picture 3" descr="HT, Hea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19600" y="1981200"/>
            <a:ext cx="4724400" cy="3419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40787746"/>
      </p:ext>
    </p:ext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p:cNvSpPr>
          <p:nvPr/>
        </p:nvSpPr>
        <p:spPr bwMode="auto">
          <a:xfrm>
            <a:off x="2006600" y="-228600"/>
            <a:ext cx="7899400" cy="161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pPr>
              <a:lnSpc>
                <a:spcPct val="80000"/>
              </a:lnSpc>
              <a:defRPr/>
            </a:pPr>
            <a:endParaRPr lang="en-US" sz="6000" dirty="0">
              <a:solidFill>
                <a:srgbClr val="AB220F"/>
              </a:solidFill>
              <a:effectLst>
                <a:outerShdw blurRad="38100" dist="38100" dir="2700000" algn="tl">
                  <a:srgbClr val="C0C0C0"/>
                </a:outerShdw>
              </a:effectLst>
              <a:latin typeface="Copperplate Gothic Bold" charset="0"/>
              <a:ea typeface="Copperplate Gothic Bold" charset="0"/>
              <a:cs typeface="Copperplate Gothic Bold" charset="0"/>
              <a:sym typeface="Copperplate Gothic Bold" charset="0"/>
            </a:endParaRPr>
          </a:p>
        </p:txBody>
      </p:sp>
      <p:sp>
        <p:nvSpPr>
          <p:cNvPr id="13" name="Title 12"/>
          <p:cNvSpPr>
            <a:spLocks noGrp="1"/>
          </p:cNvSpPr>
          <p:nvPr>
            <p:ph type="title"/>
          </p:nvPr>
        </p:nvSpPr>
        <p:spPr>
          <a:xfrm>
            <a:off x="1025525" y="152400"/>
            <a:ext cx="8118475" cy="838200"/>
          </a:xfrm>
        </p:spPr>
        <p:txBody>
          <a:bodyPr/>
          <a:lstStyle/>
          <a:p>
            <a:r>
              <a:rPr lang="en-US" dirty="0" smtClean="0"/>
              <a:t>Heat </a:t>
            </a:r>
            <a:r>
              <a:rPr lang="en-US" dirty="0" smtClean="0"/>
              <a:t>Measurements</a:t>
            </a:r>
            <a:endParaRPr lang="en-US" dirty="0"/>
          </a:p>
        </p:txBody>
      </p:sp>
      <p:sp>
        <p:nvSpPr>
          <p:cNvPr id="14" name="Content Placeholder 13"/>
          <p:cNvSpPr>
            <a:spLocks noGrp="1"/>
          </p:cNvSpPr>
          <p:nvPr>
            <p:ph idx="1"/>
          </p:nvPr>
        </p:nvSpPr>
        <p:spPr>
          <a:xfrm>
            <a:off x="838200" y="1600200"/>
            <a:ext cx="8077200" cy="3352800"/>
          </a:xfrm>
        </p:spPr>
        <p:txBody>
          <a:bodyPr/>
          <a:lstStyle/>
          <a:p>
            <a:pPr>
              <a:lnSpc>
                <a:spcPct val="250000"/>
              </a:lnSpc>
            </a:pPr>
            <a:r>
              <a:rPr lang="en-US" sz="3200" b="1" dirty="0" smtClean="0"/>
              <a:t>Temperature</a:t>
            </a:r>
            <a:endParaRPr lang="en-US" sz="3200" b="1" dirty="0" smtClean="0"/>
          </a:p>
          <a:p>
            <a:pPr>
              <a:lnSpc>
                <a:spcPct val="250000"/>
              </a:lnSpc>
            </a:pPr>
            <a:r>
              <a:rPr lang="en-US" sz="3200" b="1" dirty="0" smtClean="0"/>
              <a:t>Quantity</a:t>
            </a:r>
            <a:endParaRPr lang="en-US" sz="3200" b="1" dirty="0"/>
          </a:p>
        </p:txBody>
      </p:sp>
    </p:spTree>
    <p:extLst>
      <p:ext uri="{BB962C8B-B14F-4D97-AF65-F5344CB8AC3E}">
        <p14:creationId xmlns:p14="http://schemas.microsoft.com/office/powerpoint/2010/main" val="174078774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fade">
                                      <p:cBhvr>
                                        <p:cTn id="7" dur="500"/>
                                        <p:tgtEl>
                                          <p:spTgt spid="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
                                            <p:txEl>
                                              <p:pRg st="1" end="1"/>
                                            </p:txEl>
                                          </p:spTgt>
                                        </p:tgtEl>
                                        <p:attrNameLst>
                                          <p:attrName>style.visibility</p:attrName>
                                        </p:attrNameLst>
                                      </p:cBhvr>
                                      <p:to>
                                        <p:strVal val="visible"/>
                                      </p:to>
                                    </p:set>
                                    <p:animEffect transition="in" filter="fade">
                                      <p:cBhvr>
                                        <p:cTn id="12" dur="500"/>
                                        <p:tgtEl>
                                          <p:spTgt spid="1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p:cNvSpPr>
          <p:nvPr/>
        </p:nvSpPr>
        <p:spPr bwMode="auto">
          <a:xfrm>
            <a:off x="2006600" y="-228600"/>
            <a:ext cx="7899400" cy="161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pPr>
              <a:lnSpc>
                <a:spcPct val="80000"/>
              </a:lnSpc>
              <a:defRPr/>
            </a:pPr>
            <a:endParaRPr lang="en-US" sz="6000" dirty="0">
              <a:solidFill>
                <a:srgbClr val="AB220F"/>
              </a:solidFill>
              <a:effectLst>
                <a:outerShdw blurRad="38100" dist="38100" dir="2700000" algn="tl">
                  <a:srgbClr val="C0C0C0"/>
                </a:outerShdw>
              </a:effectLst>
              <a:latin typeface="Copperplate Gothic Bold" charset="0"/>
              <a:ea typeface="Copperplate Gothic Bold" charset="0"/>
              <a:cs typeface="Copperplate Gothic Bold" charset="0"/>
              <a:sym typeface="Copperplate Gothic Bold" charset="0"/>
            </a:endParaRPr>
          </a:p>
        </p:txBody>
      </p:sp>
      <p:sp>
        <p:nvSpPr>
          <p:cNvPr id="13" name="Title 12"/>
          <p:cNvSpPr>
            <a:spLocks noGrp="1"/>
          </p:cNvSpPr>
          <p:nvPr>
            <p:ph type="title"/>
          </p:nvPr>
        </p:nvSpPr>
        <p:spPr>
          <a:xfrm>
            <a:off x="1025525" y="152400"/>
            <a:ext cx="8118475" cy="838200"/>
          </a:xfrm>
        </p:spPr>
        <p:txBody>
          <a:bodyPr/>
          <a:lstStyle/>
          <a:p>
            <a:r>
              <a:rPr lang="en-US" dirty="0" smtClean="0"/>
              <a:t>Heat Measurements - Temperature</a:t>
            </a:r>
            <a:endParaRPr lang="en-US" dirty="0"/>
          </a:p>
        </p:txBody>
      </p:sp>
      <p:sp>
        <p:nvSpPr>
          <p:cNvPr id="14" name="Content Placeholder 13"/>
          <p:cNvSpPr>
            <a:spLocks noGrp="1"/>
          </p:cNvSpPr>
          <p:nvPr>
            <p:ph idx="1"/>
          </p:nvPr>
        </p:nvSpPr>
        <p:spPr>
          <a:xfrm>
            <a:off x="762000" y="1600200"/>
            <a:ext cx="8153400" cy="5029200"/>
          </a:xfrm>
        </p:spPr>
        <p:txBody>
          <a:bodyPr/>
          <a:lstStyle/>
          <a:p>
            <a:pPr>
              <a:lnSpc>
                <a:spcPct val="150000"/>
              </a:lnSpc>
            </a:pPr>
            <a:r>
              <a:rPr lang="en-US" dirty="0" smtClean="0"/>
              <a:t>Temperature is a measurement of heat intensity</a:t>
            </a:r>
          </a:p>
          <a:p>
            <a:pPr>
              <a:lnSpc>
                <a:spcPct val="150000"/>
              </a:lnSpc>
            </a:pPr>
            <a:r>
              <a:rPr lang="en-US" dirty="0" smtClean="0"/>
              <a:t>Measured using a thermometer</a:t>
            </a:r>
          </a:p>
          <a:p>
            <a:pPr>
              <a:lnSpc>
                <a:spcPct val="150000"/>
              </a:lnSpc>
            </a:pPr>
            <a:r>
              <a:rPr lang="en-US" dirty="0" smtClean="0"/>
              <a:t>Two commonly used scales:</a:t>
            </a:r>
          </a:p>
          <a:p>
            <a:pPr lvl="1"/>
            <a:r>
              <a:rPr lang="en-US" b="1" dirty="0" smtClean="0"/>
              <a:t>Fahrenheit</a:t>
            </a:r>
            <a:r>
              <a:rPr lang="en-US" dirty="0" smtClean="0"/>
              <a:t> </a:t>
            </a:r>
          </a:p>
          <a:p>
            <a:pPr lvl="1"/>
            <a:r>
              <a:rPr lang="en-US" b="1" dirty="0" smtClean="0"/>
              <a:t>Celsius</a:t>
            </a:r>
            <a:endParaRPr lang="en-US" b="1" dirty="0"/>
          </a:p>
        </p:txBody>
      </p:sp>
    </p:spTree>
    <p:extLst>
      <p:ext uri="{BB962C8B-B14F-4D97-AF65-F5344CB8AC3E}">
        <p14:creationId xmlns:p14="http://schemas.microsoft.com/office/powerpoint/2010/main" val="2318772495"/>
      </p:ext>
    </p:extLst>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3"/>
          <p:cNvSpPr>
            <a:spLocks noGrp="1"/>
          </p:cNvSpPr>
          <p:nvPr>
            <p:ph type="sldNum" sz="quarter" idx="4294967295"/>
          </p:nvPr>
        </p:nvSpPr>
        <p:spPr>
          <a:xfrm>
            <a:off x="6781800" y="6324600"/>
            <a:ext cx="1905000" cy="457200"/>
          </a:xfrm>
          <a:prstGeom prst="rect">
            <a:avLst/>
          </a:prstGeom>
          <a:noFill/>
        </p:spPr>
        <p:txBody>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eaLnBrk="1" hangingPunct="1"/>
            <a:fld id="{389FCFA7-6ACA-43F0-B3B9-B15525DA8138}" type="slidenum">
              <a:rPr lang="en-US" altLang="en-US" sz="1400"/>
              <a:pPr eaLnBrk="1" hangingPunct="1"/>
              <a:t>6</a:t>
            </a:fld>
            <a:endParaRPr lang="en-US" altLang="en-US" sz="1400"/>
          </a:p>
        </p:txBody>
      </p:sp>
      <p:sp>
        <p:nvSpPr>
          <p:cNvPr id="7171" name="Rectangle 2"/>
          <p:cNvSpPr>
            <a:spLocks noGrp="1" noChangeArrowheads="1"/>
          </p:cNvSpPr>
          <p:nvPr>
            <p:ph type="title"/>
          </p:nvPr>
        </p:nvSpPr>
        <p:spPr/>
        <p:txBody>
          <a:bodyPr/>
          <a:lstStyle/>
          <a:p>
            <a:pPr eaLnBrk="1" hangingPunct="1"/>
            <a:r>
              <a:rPr lang="en-US" altLang="en-US" dirty="0" smtClean="0"/>
              <a:t>Heat </a:t>
            </a:r>
            <a:r>
              <a:rPr lang="en-US" altLang="en-US" dirty="0" smtClean="0"/>
              <a:t>Measurements - </a:t>
            </a:r>
            <a:r>
              <a:rPr lang="en-US" altLang="en-US" dirty="0" smtClean="0"/>
              <a:t>Quantity</a:t>
            </a:r>
          </a:p>
        </p:txBody>
      </p:sp>
      <p:pic>
        <p:nvPicPr>
          <p:cNvPr id="7172" name="Picture 3" descr="HT, Qua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53000" y="1981200"/>
            <a:ext cx="4191000" cy="331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3" name="Text Box 4"/>
          <p:cNvSpPr txBox="1">
            <a:spLocks noChangeArrowheads="1"/>
          </p:cNvSpPr>
          <p:nvPr/>
        </p:nvSpPr>
        <p:spPr bwMode="auto">
          <a:xfrm>
            <a:off x="609600" y="1295400"/>
            <a:ext cx="4343400"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eaLnBrk="1" hangingPunct="1">
              <a:spcBef>
                <a:spcPct val="50000"/>
              </a:spcBef>
            </a:pPr>
            <a:r>
              <a:rPr lang="en-US" altLang="en-US" dirty="0"/>
              <a:t>Heat quantity is also measured using two scales: </a:t>
            </a:r>
            <a:r>
              <a:rPr lang="en-US" altLang="en-US" b="1" i="1" dirty="0"/>
              <a:t>Calories (c)</a:t>
            </a:r>
            <a:r>
              <a:rPr lang="en-US" altLang="en-US" dirty="0"/>
              <a:t> by most of the World and </a:t>
            </a:r>
            <a:r>
              <a:rPr lang="en-US" altLang="en-US" b="1" i="1" dirty="0"/>
              <a:t>British Thermal Units (BTU)</a:t>
            </a:r>
            <a:r>
              <a:rPr lang="en-US" altLang="en-US" dirty="0"/>
              <a:t> in the United States.			</a:t>
            </a:r>
            <a:endParaRPr lang="en-US" altLang="en-US" dirty="0" smtClean="0"/>
          </a:p>
          <a:p>
            <a:pPr marL="342900" indent="-342900" eaLnBrk="1" hangingPunct="1">
              <a:spcBef>
                <a:spcPct val="50000"/>
              </a:spcBef>
              <a:buFont typeface="Arial" panose="020B0604020202020204" pitchFamily="34" charset="0"/>
              <a:buChar char="•"/>
            </a:pPr>
            <a:r>
              <a:rPr lang="en-US" altLang="en-US" dirty="0" smtClean="0"/>
              <a:t>One </a:t>
            </a:r>
            <a:r>
              <a:rPr lang="en-US" altLang="en-US" dirty="0"/>
              <a:t>BTU will increase the temperature of one pound of water by one degree F. </a:t>
            </a:r>
            <a:endParaRPr lang="en-US" altLang="en-US" dirty="0" smtClean="0"/>
          </a:p>
          <a:p>
            <a:pPr marL="342900" indent="-342900" eaLnBrk="1" hangingPunct="1">
              <a:spcBef>
                <a:spcPct val="50000"/>
              </a:spcBef>
              <a:buFont typeface="Arial" panose="020B0604020202020204" pitchFamily="34" charset="0"/>
              <a:buChar char="•"/>
            </a:pPr>
            <a:r>
              <a:rPr lang="en-US" altLang="en-US" dirty="0" smtClean="0"/>
              <a:t>One c will increase the temperature of one g of water by one degree C.</a:t>
            </a:r>
            <a:endParaRPr lang="en-US" altLang="en-US" dirty="0"/>
          </a:p>
        </p:txBody>
      </p:sp>
      <p:sp>
        <p:nvSpPr>
          <p:cNvPr id="7174" name="Text Box 5"/>
          <p:cNvSpPr txBox="1">
            <a:spLocks noChangeArrowheads="1"/>
          </p:cNvSpPr>
          <p:nvPr/>
        </p:nvSpPr>
        <p:spPr bwMode="auto">
          <a:xfrm>
            <a:off x="5181600" y="5181600"/>
            <a:ext cx="36576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eaLnBrk="1" hangingPunct="1">
              <a:spcBef>
                <a:spcPct val="50000"/>
              </a:spcBef>
            </a:pPr>
            <a:r>
              <a:rPr lang="en-US" altLang="en-US"/>
              <a:t>Burning a large wooden match produces about 1 BTU of heat. </a:t>
            </a:r>
          </a:p>
        </p:txBody>
      </p:sp>
    </p:spTree>
    <p:extLst>
      <p:ext uri="{BB962C8B-B14F-4D97-AF65-F5344CB8AC3E}">
        <p14:creationId xmlns:p14="http://schemas.microsoft.com/office/powerpoint/2010/main" val="1794647729"/>
      </p:ext>
    </p:extLst>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3"/>
          <p:cNvSpPr>
            <a:spLocks noGrp="1"/>
          </p:cNvSpPr>
          <p:nvPr>
            <p:ph type="sldNum" sz="quarter" idx="4294967295"/>
          </p:nvPr>
        </p:nvSpPr>
        <p:spPr>
          <a:xfrm>
            <a:off x="6781800" y="6324600"/>
            <a:ext cx="1905000" cy="457200"/>
          </a:xfrm>
          <a:prstGeom prst="rect">
            <a:avLst/>
          </a:prstGeom>
          <a:noFill/>
        </p:spPr>
        <p:txBody>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eaLnBrk="1" hangingPunct="1"/>
            <a:fld id="{67F6C39D-2939-4BF1-99CF-9166FC6CA997}" type="slidenum">
              <a:rPr lang="en-US" altLang="en-US" sz="1400"/>
              <a:pPr eaLnBrk="1" hangingPunct="1"/>
              <a:t>7</a:t>
            </a:fld>
            <a:endParaRPr lang="en-US" altLang="en-US" sz="1400"/>
          </a:p>
        </p:txBody>
      </p:sp>
      <p:sp>
        <p:nvSpPr>
          <p:cNvPr id="8195" name="Rectangle 2"/>
          <p:cNvSpPr>
            <a:spLocks noGrp="1" noChangeArrowheads="1"/>
          </p:cNvSpPr>
          <p:nvPr>
            <p:ph type="title"/>
          </p:nvPr>
        </p:nvSpPr>
        <p:spPr/>
        <p:txBody>
          <a:bodyPr/>
          <a:lstStyle/>
          <a:p>
            <a:pPr eaLnBrk="1" hangingPunct="1"/>
            <a:r>
              <a:rPr lang="en-US" altLang="en-US" smtClean="0"/>
              <a:t>Intensity and Quantity</a:t>
            </a:r>
          </a:p>
        </p:txBody>
      </p:sp>
      <p:sp>
        <p:nvSpPr>
          <p:cNvPr id="8196" name="Text Box 3"/>
          <p:cNvSpPr txBox="1">
            <a:spLocks noChangeArrowheads="1"/>
          </p:cNvSpPr>
          <p:nvPr/>
        </p:nvSpPr>
        <p:spPr bwMode="auto">
          <a:xfrm>
            <a:off x="609600" y="2026146"/>
            <a:ext cx="8458200" cy="32316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400">
                <a:solidFill>
                  <a:schemeClr val="tx1"/>
                </a:solidFill>
                <a:latin typeface="Tahoma" pitchFamily="34" charset="0"/>
              </a:defRPr>
            </a:lvl1pPr>
            <a:lvl2pPr marL="742950" indent="-285750" eaLnBrk="0" hangingPunct="0">
              <a:defRPr sz="2400">
                <a:solidFill>
                  <a:schemeClr val="tx1"/>
                </a:solidFill>
                <a:latin typeface="Tahoma" pitchFamily="34" charset="0"/>
              </a:defRPr>
            </a:lvl2pPr>
            <a:lvl3pPr marL="1143000" indent="-228600" eaLnBrk="0" hangingPunct="0">
              <a:defRPr sz="2400">
                <a:solidFill>
                  <a:schemeClr val="tx1"/>
                </a:solidFill>
                <a:latin typeface="Tahoma" pitchFamily="34" charset="0"/>
              </a:defRPr>
            </a:lvl3pPr>
            <a:lvl4pPr marL="1600200" indent="-228600" eaLnBrk="0" hangingPunct="0">
              <a:defRPr sz="2400">
                <a:solidFill>
                  <a:schemeClr val="tx1"/>
                </a:solidFill>
                <a:latin typeface="Tahoma" pitchFamily="34" charset="0"/>
              </a:defRPr>
            </a:lvl4pPr>
            <a:lvl5pPr marL="2057400" indent="-228600" eaLnBrk="0" hangingPunct="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eaLnBrk="1" hangingPunct="1">
              <a:spcBef>
                <a:spcPct val="50000"/>
              </a:spcBef>
            </a:pPr>
            <a:r>
              <a:rPr lang="en-US" altLang="en-US" dirty="0"/>
              <a:t>A</a:t>
            </a:r>
            <a:r>
              <a:rPr lang="en-US" altLang="en-US" b="1" i="1" dirty="0"/>
              <a:t> MHVAC </a:t>
            </a:r>
            <a:r>
              <a:rPr lang="en-US" altLang="en-US" dirty="0"/>
              <a:t>technician is concerned with heat intensity when he or she is testing or repairing a HVAC system to make sure it is operating correctly.</a:t>
            </a:r>
          </a:p>
          <a:p>
            <a:pPr eaLnBrk="1" hangingPunct="1">
              <a:spcBef>
                <a:spcPct val="50000"/>
              </a:spcBef>
            </a:pPr>
            <a:r>
              <a:rPr lang="en-US" altLang="en-US" dirty="0"/>
              <a:t>	A vehicle design engineer is concerned with heat quantity while designing a system to make sure it is the correct size to provide adequate heat transfer. It must move enough heat to keep the interior of a vehicle warm in cold climates and cool in very hot areas.</a:t>
            </a:r>
          </a:p>
        </p:txBody>
      </p:sp>
    </p:spTree>
    <p:extLst>
      <p:ext uri="{BB962C8B-B14F-4D97-AF65-F5344CB8AC3E}">
        <p14:creationId xmlns:p14="http://schemas.microsoft.com/office/powerpoint/2010/main" val="1086023509"/>
      </p:ext>
    </p:extLst>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p:cNvSpPr>
          <p:nvPr/>
        </p:nvSpPr>
        <p:spPr bwMode="auto">
          <a:xfrm>
            <a:off x="2006600" y="-228600"/>
            <a:ext cx="7899400" cy="161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pPr>
              <a:lnSpc>
                <a:spcPct val="80000"/>
              </a:lnSpc>
              <a:defRPr/>
            </a:pPr>
            <a:endParaRPr lang="en-US" sz="6000" dirty="0">
              <a:solidFill>
                <a:srgbClr val="AB220F"/>
              </a:solidFill>
              <a:effectLst>
                <a:outerShdw blurRad="38100" dist="38100" dir="2700000" algn="tl">
                  <a:srgbClr val="C0C0C0"/>
                </a:outerShdw>
              </a:effectLst>
              <a:latin typeface="Copperplate Gothic Bold" charset="0"/>
              <a:ea typeface="Copperplate Gothic Bold" charset="0"/>
              <a:cs typeface="Copperplate Gothic Bold" charset="0"/>
              <a:sym typeface="Copperplate Gothic Bold" charset="0"/>
            </a:endParaRPr>
          </a:p>
        </p:txBody>
      </p:sp>
      <p:sp>
        <p:nvSpPr>
          <p:cNvPr id="13" name="Title 12"/>
          <p:cNvSpPr>
            <a:spLocks noGrp="1"/>
          </p:cNvSpPr>
          <p:nvPr>
            <p:ph type="title"/>
          </p:nvPr>
        </p:nvSpPr>
        <p:spPr/>
        <p:txBody>
          <a:bodyPr/>
          <a:lstStyle/>
          <a:p>
            <a:r>
              <a:rPr lang="en-US" altLang="en-US" dirty="0"/>
              <a:t>Heat Movement</a:t>
            </a:r>
            <a:endParaRPr lang="en-US" dirty="0"/>
          </a:p>
        </p:txBody>
      </p:sp>
      <p:sp>
        <p:nvSpPr>
          <p:cNvPr id="14" name="Content Placeholder 13"/>
          <p:cNvSpPr>
            <a:spLocks noGrp="1"/>
          </p:cNvSpPr>
          <p:nvPr>
            <p:ph idx="1"/>
          </p:nvPr>
        </p:nvSpPr>
        <p:spPr>
          <a:xfrm>
            <a:off x="685800" y="1881353"/>
            <a:ext cx="2743200" cy="1852447"/>
          </a:xfrm>
        </p:spPr>
        <p:txBody>
          <a:bodyPr/>
          <a:lstStyle/>
          <a:p>
            <a:pPr marL="0" indent="0">
              <a:buNone/>
            </a:pPr>
            <a:r>
              <a:rPr lang="en-US" altLang="en-US" dirty="0"/>
              <a:t>Heat always travels from </a:t>
            </a:r>
            <a:r>
              <a:rPr lang="en-US" altLang="en-US" b="1" i="1" dirty="0"/>
              <a:t>Hot to Cold.</a:t>
            </a:r>
            <a:endParaRPr lang="en-US" altLang="en-US" dirty="0"/>
          </a:p>
          <a:p>
            <a:endParaRPr lang="en-US" dirty="0"/>
          </a:p>
        </p:txBody>
      </p:sp>
      <p:pic>
        <p:nvPicPr>
          <p:cNvPr id="5" name="Picture 3" descr="HT, Hot to cl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33800" y="1447800"/>
            <a:ext cx="5181600" cy="2989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685800" y="4494074"/>
            <a:ext cx="8229600" cy="1569660"/>
          </a:xfrm>
          <a:prstGeom prst="rect">
            <a:avLst/>
          </a:prstGeom>
        </p:spPr>
        <p:txBody>
          <a:bodyPr wrap="square">
            <a:spAutoFit/>
          </a:bodyPr>
          <a:lstStyle/>
          <a:p>
            <a:pPr>
              <a:spcBef>
                <a:spcPct val="50000"/>
              </a:spcBef>
            </a:pPr>
            <a:r>
              <a:rPr lang="en-US" altLang="en-US" sz="2400" dirty="0"/>
              <a:t>In this example, heat within the engine will move from the very hot combustion chamber to </a:t>
            </a:r>
            <a:r>
              <a:rPr lang="en-US" altLang="en-US" sz="2400" dirty="0" smtClean="0"/>
              <a:t>the (cooler) coolant</a:t>
            </a:r>
            <a:r>
              <a:rPr lang="en-US" altLang="en-US" sz="2400" dirty="0"/>
              <a:t>. After the coolant is moved to the radiator, the heat will move to the </a:t>
            </a:r>
            <a:r>
              <a:rPr lang="en-US" altLang="en-US" sz="2400" dirty="0" smtClean="0"/>
              <a:t>(cooler) </a:t>
            </a:r>
            <a:r>
              <a:rPr lang="en-US" altLang="en-US" sz="2400" dirty="0"/>
              <a:t>air passing through it.</a:t>
            </a:r>
          </a:p>
        </p:txBody>
      </p:sp>
    </p:spTree>
    <p:extLst>
      <p:ext uri="{BB962C8B-B14F-4D97-AF65-F5344CB8AC3E}">
        <p14:creationId xmlns:p14="http://schemas.microsoft.com/office/powerpoint/2010/main" val="1740787746"/>
      </p:ext>
    </p:extLst>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p:cNvSpPr>
          <p:nvPr/>
        </p:nvSpPr>
        <p:spPr bwMode="auto">
          <a:xfrm>
            <a:off x="2006600" y="-228600"/>
            <a:ext cx="7899400" cy="161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pPr>
              <a:lnSpc>
                <a:spcPct val="80000"/>
              </a:lnSpc>
              <a:defRPr/>
            </a:pPr>
            <a:endParaRPr lang="en-US" sz="6000" dirty="0">
              <a:solidFill>
                <a:srgbClr val="AB220F"/>
              </a:solidFill>
              <a:effectLst>
                <a:outerShdw blurRad="38100" dist="38100" dir="2700000" algn="tl">
                  <a:srgbClr val="C0C0C0"/>
                </a:outerShdw>
              </a:effectLst>
              <a:latin typeface="Copperplate Gothic Bold" charset="0"/>
              <a:ea typeface="Copperplate Gothic Bold" charset="0"/>
              <a:cs typeface="Copperplate Gothic Bold" charset="0"/>
              <a:sym typeface="Copperplate Gothic Bold" charset="0"/>
            </a:endParaRPr>
          </a:p>
        </p:txBody>
      </p:sp>
      <p:sp>
        <p:nvSpPr>
          <p:cNvPr id="13" name="Title 12"/>
          <p:cNvSpPr>
            <a:spLocks noGrp="1"/>
          </p:cNvSpPr>
          <p:nvPr>
            <p:ph type="title"/>
          </p:nvPr>
        </p:nvSpPr>
        <p:spPr>
          <a:xfrm>
            <a:off x="1558925" y="76200"/>
            <a:ext cx="8118475" cy="838200"/>
          </a:xfrm>
        </p:spPr>
        <p:txBody>
          <a:bodyPr/>
          <a:lstStyle/>
          <a:p>
            <a:r>
              <a:rPr lang="en-US" altLang="en-US" dirty="0"/>
              <a:t>Heat Transfer Rate</a:t>
            </a:r>
            <a:endParaRPr lang="en-US" dirty="0"/>
          </a:p>
        </p:txBody>
      </p:sp>
      <p:sp>
        <p:nvSpPr>
          <p:cNvPr id="14" name="Content Placeholder 13"/>
          <p:cNvSpPr>
            <a:spLocks noGrp="1"/>
          </p:cNvSpPr>
          <p:nvPr>
            <p:ph idx="1"/>
          </p:nvPr>
        </p:nvSpPr>
        <p:spPr>
          <a:xfrm>
            <a:off x="685800" y="1728953"/>
            <a:ext cx="3857625" cy="4976647"/>
          </a:xfrm>
        </p:spPr>
        <p:txBody>
          <a:bodyPr/>
          <a:lstStyle/>
          <a:p>
            <a:pPr marL="0" indent="0">
              <a:buNone/>
            </a:pPr>
            <a:r>
              <a:rPr lang="en-US" altLang="en-US" sz="2400" dirty="0"/>
              <a:t>Heat transfer rate is determined by the temperature difference between the hot and cold items. A minor difference (top) will have a slow rate. A large difference will cause a much faster rate of heat exchange.</a:t>
            </a:r>
          </a:p>
          <a:p>
            <a:pPr marL="0" indent="0">
              <a:buNone/>
            </a:pPr>
            <a:endParaRPr lang="en-US" dirty="0"/>
          </a:p>
        </p:txBody>
      </p:sp>
      <p:pic>
        <p:nvPicPr>
          <p:cNvPr id="5" name="Picture 5" descr="HT, Ht Flw Rat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48225" y="1447800"/>
            <a:ext cx="4295775" cy="418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40787746"/>
      </p:ext>
    </p:extLst>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p:cNvSpPr>
          <p:nvPr/>
        </p:nvSpPr>
        <p:spPr bwMode="auto">
          <a:xfrm>
            <a:off x="2006600" y="-228600"/>
            <a:ext cx="7899400" cy="161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pPr>
              <a:lnSpc>
                <a:spcPct val="80000"/>
              </a:lnSpc>
              <a:defRPr/>
            </a:pPr>
            <a:endParaRPr lang="en-US" sz="6000" dirty="0">
              <a:solidFill>
                <a:srgbClr val="AB220F"/>
              </a:solidFill>
              <a:effectLst>
                <a:outerShdw blurRad="38100" dist="38100" dir="2700000" algn="tl">
                  <a:srgbClr val="C0C0C0"/>
                </a:outerShdw>
              </a:effectLst>
              <a:latin typeface="Copperplate Gothic Bold" charset="0"/>
              <a:ea typeface="Copperplate Gothic Bold" charset="0"/>
              <a:cs typeface="Copperplate Gothic Bold" charset="0"/>
              <a:sym typeface="Copperplate Gothic Bold" charset="0"/>
            </a:endParaRPr>
          </a:p>
        </p:txBody>
      </p:sp>
      <p:sp>
        <p:nvSpPr>
          <p:cNvPr id="13" name="Title 12"/>
          <p:cNvSpPr>
            <a:spLocks noGrp="1"/>
          </p:cNvSpPr>
          <p:nvPr>
            <p:ph type="title"/>
          </p:nvPr>
        </p:nvSpPr>
        <p:spPr>
          <a:xfrm>
            <a:off x="1101725" y="152400"/>
            <a:ext cx="8118475" cy="838200"/>
          </a:xfrm>
        </p:spPr>
        <p:txBody>
          <a:bodyPr/>
          <a:lstStyle/>
          <a:p>
            <a:r>
              <a:rPr lang="en-US" altLang="en-US" dirty="0"/>
              <a:t>Heat Conduction</a:t>
            </a:r>
            <a:endParaRPr lang="en-US" dirty="0"/>
          </a:p>
        </p:txBody>
      </p:sp>
      <p:sp>
        <p:nvSpPr>
          <p:cNvPr id="14" name="Content Placeholder 13"/>
          <p:cNvSpPr>
            <a:spLocks noGrp="1"/>
          </p:cNvSpPr>
          <p:nvPr>
            <p:ph idx="1"/>
          </p:nvPr>
        </p:nvSpPr>
        <p:spPr>
          <a:xfrm>
            <a:off x="685800" y="1576553"/>
            <a:ext cx="3505200" cy="4519447"/>
          </a:xfrm>
        </p:spPr>
        <p:txBody>
          <a:bodyPr/>
          <a:lstStyle/>
          <a:p>
            <a:pPr marL="0" indent="0">
              <a:buNone/>
            </a:pPr>
            <a:r>
              <a:rPr lang="en-US" altLang="en-US" dirty="0"/>
              <a:t>Heat transfer through a material, from one molecule to the next is called conduction. The heat entering this metal rod is flowing to the ends.</a:t>
            </a:r>
          </a:p>
          <a:p>
            <a:pPr marL="0" indent="0">
              <a:buNone/>
            </a:pPr>
            <a:endParaRPr lang="en-US" dirty="0"/>
          </a:p>
        </p:txBody>
      </p:sp>
      <p:pic>
        <p:nvPicPr>
          <p:cNvPr id="5" name="Picture 3" descr="HT, Con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95800" y="2209800"/>
            <a:ext cx="4371975" cy="286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40787746"/>
      </p:ext>
    </p:extLst>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p:cNvSpPr>
          <p:nvPr/>
        </p:nvSpPr>
        <p:spPr bwMode="auto">
          <a:xfrm>
            <a:off x="2006600" y="-228600"/>
            <a:ext cx="7899400" cy="161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pPr>
              <a:lnSpc>
                <a:spcPct val="80000"/>
              </a:lnSpc>
              <a:defRPr/>
            </a:pPr>
            <a:endParaRPr lang="en-US" sz="6000" dirty="0">
              <a:solidFill>
                <a:srgbClr val="AB220F"/>
              </a:solidFill>
              <a:effectLst>
                <a:outerShdw blurRad="38100" dist="38100" dir="2700000" algn="tl">
                  <a:srgbClr val="C0C0C0"/>
                </a:outerShdw>
              </a:effectLst>
              <a:latin typeface="Copperplate Gothic Bold" charset="0"/>
              <a:ea typeface="Copperplate Gothic Bold" charset="0"/>
              <a:cs typeface="Copperplate Gothic Bold" charset="0"/>
              <a:sym typeface="Copperplate Gothic Bold" charset="0"/>
            </a:endParaRPr>
          </a:p>
        </p:txBody>
      </p:sp>
      <p:sp>
        <p:nvSpPr>
          <p:cNvPr id="13" name="Title 12"/>
          <p:cNvSpPr>
            <a:spLocks noGrp="1"/>
          </p:cNvSpPr>
          <p:nvPr>
            <p:ph type="title"/>
          </p:nvPr>
        </p:nvSpPr>
        <p:spPr>
          <a:xfrm>
            <a:off x="1177925" y="76200"/>
            <a:ext cx="8118475" cy="838200"/>
          </a:xfrm>
        </p:spPr>
        <p:txBody>
          <a:bodyPr/>
          <a:lstStyle/>
          <a:p>
            <a:r>
              <a:rPr lang="en-US" altLang="en-US" dirty="0" smtClean="0"/>
              <a:t>Convection </a:t>
            </a:r>
            <a:endParaRPr lang="en-US" dirty="0"/>
          </a:p>
        </p:txBody>
      </p:sp>
      <p:pic>
        <p:nvPicPr>
          <p:cNvPr id="5" name="Picture 3" descr="HT, Conv"/>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198925" y="1295400"/>
            <a:ext cx="7106875"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609600" y="4244876"/>
            <a:ext cx="8534400" cy="1938992"/>
          </a:xfrm>
          <a:prstGeom prst="rect">
            <a:avLst/>
          </a:prstGeom>
        </p:spPr>
        <p:txBody>
          <a:bodyPr wrap="square">
            <a:spAutoFit/>
          </a:bodyPr>
          <a:lstStyle/>
          <a:p>
            <a:pPr>
              <a:spcBef>
                <a:spcPct val="50000"/>
              </a:spcBef>
            </a:pPr>
            <a:r>
              <a:rPr lang="en-US" altLang="en-US" sz="2400" dirty="0"/>
              <a:t>When we move heat by circulating a medium like air or water, we call the process: convection. The coolant circulating in the cooling system transfers heat from the engine to the radiator and the warm or cool air circulating through the vehicle are both examples of convection.</a:t>
            </a:r>
          </a:p>
        </p:txBody>
      </p:sp>
    </p:spTree>
    <p:extLst>
      <p:ext uri="{BB962C8B-B14F-4D97-AF65-F5344CB8AC3E}">
        <p14:creationId xmlns:p14="http://schemas.microsoft.com/office/powerpoint/2010/main" val="1740787746"/>
      </p:ext>
    </p:extLst>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p:cNvSpPr>
          <p:nvPr/>
        </p:nvSpPr>
        <p:spPr bwMode="auto">
          <a:xfrm>
            <a:off x="2006600" y="-228600"/>
            <a:ext cx="7899400" cy="161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pPr>
              <a:lnSpc>
                <a:spcPct val="80000"/>
              </a:lnSpc>
              <a:defRPr/>
            </a:pPr>
            <a:endParaRPr lang="en-US" sz="6000" dirty="0">
              <a:solidFill>
                <a:srgbClr val="AB220F"/>
              </a:solidFill>
              <a:effectLst>
                <a:outerShdw blurRad="38100" dist="38100" dir="2700000" algn="tl">
                  <a:srgbClr val="C0C0C0"/>
                </a:outerShdw>
              </a:effectLst>
              <a:latin typeface="Copperplate Gothic Bold" charset="0"/>
              <a:ea typeface="Copperplate Gothic Bold" charset="0"/>
              <a:cs typeface="Copperplate Gothic Bold" charset="0"/>
              <a:sym typeface="Copperplate Gothic Bold" charset="0"/>
            </a:endParaRPr>
          </a:p>
        </p:txBody>
      </p:sp>
      <p:sp>
        <p:nvSpPr>
          <p:cNvPr id="13" name="Title 12"/>
          <p:cNvSpPr>
            <a:spLocks noGrp="1"/>
          </p:cNvSpPr>
          <p:nvPr>
            <p:ph type="title"/>
          </p:nvPr>
        </p:nvSpPr>
        <p:spPr>
          <a:xfrm>
            <a:off x="949325" y="152400"/>
            <a:ext cx="8118475" cy="838200"/>
          </a:xfrm>
        </p:spPr>
        <p:txBody>
          <a:bodyPr/>
          <a:lstStyle/>
          <a:p>
            <a:r>
              <a:rPr lang="en-US" altLang="en-US" dirty="0"/>
              <a:t>Radiation</a:t>
            </a:r>
            <a:endParaRPr lang="en-US" dirty="0"/>
          </a:p>
        </p:txBody>
      </p:sp>
      <p:sp>
        <p:nvSpPr>
          <p:cNvPr id="14" name="Content Placeholder 13"/>
          <p:cNvSpPr>
            <a:spLocks noGrp="1"/>
          </p:cNvSpPr>
          <p:nvPr>
            <p:ph idx="1"/>
          </p:nvPr>
        </p:nvSpPr>
        <p:spPr>
          <a:xfrm>
            <a:off x="533400" y="1348441"/>
            <a:ext cx="3962400" cy="5052847"/>
          </a:xfrm>
        </p:spPr>
        <p:txBody>
          <a:bodyPr/>
          <a:lstStyle/>
          <a:p>
            <a:pPr marL="0" indent="0">
              <a:buNone/>
            </a:pPr>
            <a:r>
              <a:rPr lang="en-US" altLang="en-US" sz="2600" dirty="0"/>
              <a:t>The heat transfer from the Sun to the Earth is an example of radiation. Heat is transferred, but it does not warm the medium (space) through which it passes. Radiant heat will warm the interior and exterior of a vehicle that is parked in the sun.</a:t>
            </a:r>
          </a:p>
          <a:p>
            <a:endParaRPr lang="en-US" dirty="0"/>
          </a:p>
        </p:txBody>
      </p:sp>
      <p:pic>
        <p:nvPicPr>
          <p:cNvPr id="5" name="Picture 3" descr="HT, Ra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19600" y="1676400"/>
            <a:ext cx="4724400" cy="404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40787746"/>
      </p:ext>
    </p:extLst>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p:cNvSpPr>
          <p:nvPr/>
        </p:nvSpPr>
        <p:spPr bwMode="auto">
          <a:xfrm>
            <a:off x="2006600" y="-228600"/>
            <a:ext cx="7899400" cy="161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pPr>
              <a:lnSpc>
                <a:spcPct val="80000"/>
              </a:lnSpc>
              <a:defRPr/>
            </a:pPr>
            <a:endParaRPr lang="en-US" sz="6000" dirty="0">
              <a:solidFill>
                <a:srgbClr val="AB220F"/>
              </a:solidFill>
              <a:effectLst>
                <a:outerShdw blurRad="38100" dist="38100" dir="2700000" algn="tl">
                  <a:srgbClr val="C0C0C0"/>
                </a:outerShdw>
              </a:effectLst>
              <a:latin typeface="Copperplate Gothic Bold" charset="0"/>
              <a:ea typeface="Copperplate Gothic Bold" charset="0"/>
              <a:cs typeface="Copperplate Gothic Bold" charset="0"/>
              <a:sym typeface="Copperplate Gothic Bold" charset="0"/>
            </a:endParaRPr>
          </a:p>
        </p:txBody>
      </p:sp>
      <p:sp>
        <p:nvSpPr>
          <p:cNvPr id="13" name="Title 12"/>
          <p:cNvSpPr>
            <a:spLocks noGrp="1"/>
          </p:cNvSpPr>
          <p:nvPr>
            <p:ph type="title"/>
          </p:nvPr>
        </p:nvSpPr>
        <p:spPr/>
        <p:txBody>
          <a:bodyPr/>
          <a:lstStyle/>
          <a:p>
            <a:r>
              <a:rPr lang="en-US" altLang="en-US" dirty="0"/>
              <a:t>Adding Heat</a:t>
            </a:r>
            <a:endParaRPr lang="en-US" dirty="0"/>
          </a:p>
        </p:txBody>
      </p:sp>
      <p:sp>
        <p:nvSpPr>
          <p:cNvPr id="14" name="Content Placeholder 13"/>
          <p:cNvSpPr>
            <a:spLocks noGrp="1"/>
          </p:cNvSpPr>
          <p:nvPr>
            <p:ph idx="1"/>
          </p:nvPr>
        </p:nvSpPr>
        <p:spPr>
          <a:xfrm>
            <a:off x="533400" y="1523999"/>
            <a:ext cx="4343400" cy="5257801"/>
          </a:xfrm>
        </p:spPr>
        <p:txBody>
          <a:bodyPr/>
          <a:lstStyle/>
          <a:p>
            <a:pPr marL="0" indent="0">
              <a:spcBef>
                <a:spcPct val="50000"/>
              </a:spcBef>
              <a:buNone/>
            </a:pPr>
            <a:r>
              <a:rPr lang="en-US" altLang="en-US" sz="2600" dirty="0"/>
              <a:t>When we add heat, we will warm up the liquid, in this case it is water. We are converting the energy in the fuel to fire and transferring this heat to the water. </a:t>
            </a:r>
          </a:p>
          <a:p>
            <a:pPr marL="0" indent="0">
              <a:spcBef>
                <a:spcPct val="50000"/>
              </a:spcBef>
              <a:buNone/>
            </a:pPr>
            <a:r>
              <a:rPr lang="en-US" altLang="en-US" sz="2600" dirty="0"/>
              <a:t>We would have to remove heat if we wanted to cool the water.</a:t>
            </a:r>
          </a:p>
          <a:p>
            <a:pPr marL="0" indent="0">
              <a:buNone/>
            </a:pPr>
            <a:endParaRPr lang="en-US" dirty="0"/>
          </a:p>
        </p:txBody>
      </p:sp>
      <p:pic>
        <p:nvPicPr>
          <p:cNvPr id="5" name="Picture 3" descr="HT, Add hea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0600" y="2057400"/>
            <a:ext cx="4343400" cy="4224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40787746"/>
      </p:ext>
    </p:extLst>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p:cNvSpPr>
          <p:nvPr/>
        </p:nvSpPr>
        <p:spPr bwMode="auto">
          <a:xfrm>
            <a:off x="2006600" y="-228600"/>
            <a:ext cx="7899400" cy="161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pPr>
              <a:lnSpc>
                <a:spcPct val="80000"/>
              </a:lnSpc>
              <a:defRPr/>
            </a:pPr>
            <a:endParaRPr lang="en-US" sz="6000" dirty="0">
              <a:solidFill>
                <a:srgbClr val="AB220F"/>
              </a:solidFill>
              <a:effectLst>
                <a:outerShdw blurRad="38100" dist="38100" dir="2700000" algn="tl">
                  <a:srgbClr val="C0C0C0"/>
                </a:outerShdw>
              </a:effectLst>
              <a:latin typeface="Copperplate Gothic Bold" charset="0"/>
              <a:ea typeface="Copperplate Gothic Bold" charset="0"/>
              <a:cs typeface="Copperplate Gothic Bold" charset="0"/>
              <a:sym typeface="Copperplate Gothic Bold" charset="0"/>
            </a:endParaRPr>
          </a:p>
        </p:txBody>
      </p:sp>
      <p:sp>
        <p:nvSpPr>
          <p:cNvPr id="13" name="Title 12"/>
          <p:cNvSpPr>
            <a:spLocks noGrp="1"/>
          </p:cNvSpPr>
          <p:nvPr>
            <p:ph type="title"/>
          </p:nvPr>
        </p:nvSpPr>
        <p:spPr/>
        <p:txBody>
          <a:bodyPr/>
          <a:lstStyle/>
          <a:p>
            <a:r>
              <a:rPr lang="en-US" altLang="en-US" dirty="0"/>
              <a:t>States of Matter</a:t>
            </a:r>
            <a:endParaRPr lang="en-US" dirty="0"/>
          </a:p>
        </p:txBody>
      </p:sp>
      <p:sp>
        <p:nvSpPr>
          <p:cNvPr id="14" name="Content Placeholder 13"/>
          <p:cNvSpPr>
            <a:spLocks noGrp="1"/>
          </p:cNvSpPr>
          <p:nvPr>
            <p:ph idx="1"/>
          </p:nvPr>
        </p:nvSpPr>
        <p:spPr>
          <a:xfrm>
            <a:off x="609600" y="1219200"/>
            <a:ext cx="4114800" cy="5181600"/>
          </a:xfrm>
        </p:spPr>
        <p:txBody>
          <a:bodyPr/>
          <a:lstStyle/>
          <a:p>
            <a:pPr marL="0" indent="0">
              <a:spcBef>
                <a:spcPct val="50000"/>
              </a:spcBef>
              <a:buNone/>
            </a:pPr>
            <a:r>
              <a:rPr lang="en-US" altLang="en-US" sz="2300" dirty="0"/>
              <a:t>Water is a molecule formed from two hydrogen </a:t>
            </a:r>
            <a:r>
              <a:rPr lang="en-US" altLang="en-US" sz="2300" dirty="0" smtClean="0"/>
              <a:t>atoms </a:t>
            </a:r>
            <a:r>
              <a:rPr lang="en-US" altLang="en-US" sz="2300" dirty="0"/>
              <a:t>and one oxygen </a:t>
            </a:r>
            <a:r>
              <a:rPr lang="en-US" altLang="en-US" sz="2300" dirty="0" smtClean="0"/>
              <a:t>atom. </a:t>
            </a:r>
            <a:r>
              <a:rPr lang="en-US" altLang="en-US" sz="2300" dirty="0"/>
              <a:t>So is ice and steam. Ice is normally a solid at cold temperatures, and steam is the high temperature, gas form of water. </a:t>
            </a:r>
          </a:p>
          <a:p>
            <a:pPr marL="0" indent="0">
              <a:spcBef>
                <a:spcPct val="50000"/>
              </a:spcBef>
              <a:buNone/>
            </a:pPr>
            <a:r>
              <a:rPr lang="en-US" altLang="en-US" sz="2300" dirty="0"/>
              <a:t>They are all the same molecule, but they have a tighter or looser molecular bond between the atoms. It takes energy to change this bond.</a:t>
            </a:r>
          </a:p>
          <a:p>
            <a:pPr marL="0" indent="0">
              <a:buNone/>
            </a:pPr>
            <a:endParaRPr lang="en-US" sz="2400" dirty="0"/>
          </a:p>
        </p:txBody>
      </p:sp>
      <p:sp>
        <p:nvSpPr>
          <p:cNvPr id="3" name="Rectangle 2"/>
          <p:cNvSpPr/>
          <p:nvPr/>
        </p:nvSpPr>
        <p:spPr>
          <a:xfrm>
            <a:off x="5410200" y="1600200"/>
            <a:ext cx="3352800" cy="646331"/>
          </a:xfrm>
          <a:prstGeom prst="rect">
            <a:avLst/>
          </a:prstGeom>
        </p:spPr>
        <p:txBody>
          <a:bodyPr wrap="square">
            <a:spAutoFit/>
          </a:bodyPr>
          <a:lstStyle/>
          <a:p>
            <a:pPr>
              <a:spcBef>
                <a:spcPct val="50000"/>
              </a:spcBef>
            </a:pPr>
            <a:r>
              <a:rPr lang="en-US" altLang="en-US" b="1" dirty="0"/>
              <a:t>Solid: Ice     	           Below 32 F   Liquid: Water </a:t>
            </a:r>
          </a:p>
        </p:txBody>
      </p:sp>
      <p:pic>
        <p:nvPicPr>
          <p:cNvPr id="7" name="Picture 10" descr="Stt of Mtt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29200" y="2438400"/>
            <a:ext cx="3813175"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p:cNvSpPr/>
          <p:nvPr/>
        </p:nvSpPr>
        <p:spPr>
          <a:xfrm>
            <a:off x="5997729" y="6324600"/>
            <a:ext cx="3070071" cy="369332"/>
          </a:xfrm>
          <a:prstGeom prst="rect">
            <a:avLst/>
          </a:prstGeom>
        </p:spPr>
        <p:txBody>
          <a:bodyPr wrap="none">
            <a:spAutoFit/>
          </a:bodyPr>
          <a:lstStyle/>
          <a:p>
            <a:pPr>
              <a:spcBef>
                <a:spcPct val="50000"/>
              </a:spcBef>
            </a:pPr>
            <a:r>
              <a:rPr lang="en-US" altLang="en-US" b="1" dirty="0"/>
              <a:t>Gas: Steam, Above 212 F</a:t>
            </a:r>
          </a:p>
        </p:txBody>
      </p:sp>
    </p:spTree>
    <p:extLst>
      <p:ext uri="{BB962C8B-B14F-4D97-AF65-F5344CB8AC3E}">
        <p14:creationId xmlns:p14="http://schemas.microsoft.com/office/powerpoint/2010/main" val="1740787746"/>
      </p:ext>
    </p:extLst>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p:cNvSpPr>
          <p:nvPr/>
        </p:nvSpPr>
        <p:spPr bwMode="auto">
          <a:xfrm>
            <a:off x="2006600" y="-228600"/>
            <a:ext cx="7899400" cy="161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pPr>
              <a:lnSpc>
                <a:spcPct val="80000"/>
              </a:lnSpc>
              <a:defRPr/>
            </a:pPr>
            <a:endParaRPr lang="en-US" sz="6000" dirty="0">
              <a:solidFill>
                <a:srgbClr val="AB220F"/>
              </a:solidFill>
              <a:effectLst>
                <a:outerShdw blurRad="38100" dist="38100" dir="2700000" algn="tl">
                  <a:srgbClr val="C0C0C0"/>
                </a:outerShdw>
              </a:effectLst>
              <a:latin typeface="Copperplate Gothic Bold" charset="0"/>
              <a:ea typeface="Copperplate Gothic Bold" charset="0"/>
              <a:cs typeface="Copperplate Gothic Bold" charset="0"/>
              <a:sym typeface="Copperplate Gothic Bold" charset="0"/>
            </a:endParaRPr>
          </a:p>
        </p:txBody>
      </p:sp>
      <p:sp>
        <p:nvSpPr>
          <p:cNvPr id="13" name="Title 12"/>
          <p:cNvSpPr>
            <a:spLocks noGrp="1"/>
          </p:cNvSpPr>
          <p:nvPr>
            <p:ph type="title"/>
          </p:nvPr>
        </p:nvSpPr>
        <p:spPr/>
        <p:txBody>
          <a:bodyPr/>
          <a:lstStyle/>
          <a:p>
            <a:r>
              <a:rPr lang="en-US" altLang="en-US" dirty="0"/>
              <a:t>Sensible and Latent Heat</a:t>
            </a:r>
            <a:endParaRPr lang="en-US" dirty="0"/>
          </a:p>
        </p:txBody>
      </p:sp>
      <p:sp>
        <p:nvSpPr>
          <p:cNvPr id="14" name="Content Placeholder 13"/>
          <p:cNvSpPr>
            <a:spLocks noGrp="1"/>
          </p:cNvSpPr>
          <p:nvPr>
            <p:ph idx="1"/>
          </p:nvPr>
        </p:nvSpPr>
        <p:spPr>
          <a:xfrm>
            <a:off x="990600" y="1600200"/>
            <a:ext cx="8153400" cy="5029200"/>
          </a:xfrm>
        </p:spPr>
        <p:txBody>
          <a:bodyPr/>
          <a:lstStyle/>
          <a:p>
            <a:pPr marL="0" indent="0">
              <a:spcBef>
                <a:spcPct val="50000"/>
              </a:spcBef>
              <a:buNone/>
            </a:pPr>
            <a:r>
              <a:rPr lang="en-US" altLang="en-US" sz="2600" dirty="0"/>
              <a:t>If we add heat to water, the temperature will increase, and this is called </a:t>
            </a:r>
            <a:r>
              <a:rPr lang="en-US" altLang="en-US" sz="2600" b="1" i="1" dirty="0"/>
              <a:t>sensible heat. </a:t>
            </a:r>
            <a:r>
              <a:rPr lang="en-US" altLang="en-US" sz="2600" dirty="0"/>
              <a:t>Sensible heat causes a change in temperature.</a:t>
            </a:r>
          </a:p>
          <a:p>
            <a:pPr marL="0" indent="0">
              <a:spcBef>
                <a:spcPct val="50000"/>
              </a:spcBef>
              <a:buNone/>
            </a:pPr>
            <a:r>
              <a:rPr lang="en-US" altLang="en-US" sz="2600" dirty="0"/>
              <a:t>If we add heat to ice at 32</a:t>
            </a:r>
            <a:r>
              <a:rPr lang="en-US" altLang="en-US" sz="2600" baseline="30000" dirty="0"/>
              <a:t>o</a:t>
            </a:r>
            <a:r>
              <a:rPr lang="en-US" altLang="en-US" sz="2600" dirty="0"/>
              <a:t> F or to water at 212</a:t>
            </a:r>
            <a:r>
              <a:rPr lang="en-US" altLang="en-US" sz="2600" baseline="30000" dirty="0"/>
              <a:t>o</a:t>
            </a:r>
            <a:r>
              <a:rPr lang="en-US" altLang="en-US" sz="2600" dirty="0"/>
              <a:t> F, the temperature </a:t>
            </a:r>
            <a:r>
              <a:rPr lang="en-US" altLang="en-US" sz="2600" b="1" dirty="0"/>
              <a:t>will not</a:t>
            </a:r>
            <a:r>
              <a:rPr lang="en-US" altLang="en-US" sz="2600" dirty="0"/>
              <a:t> increase. The added heat will melt some of the ice or boil some of the water. This is called </a:t>
            </a:r>
            <a:r>
              <a:rPr lang="en-US" altLang="en-US" sz="2600" b="1" i="1" dirty="0"/>
              <a:t>latent heat.</a:t>
            </a:r>
            <a:r>
              <a:rPr lang="en-US" altLang="en-US" sz="2600" dirty="0"/>
              <a:t> Latent heat causes a change in state but not a change in temperature. This heat energy changes the molecular bond within the molecule.</a:t>
            </a:r>
            <a:endParaRPr lang="en-US" sz="2600" dirty="0"/>
          </a:p>
        </p:txBody>
      </p:sp>
    </p:spTree>
    <p:extLst>
      <p:ext uri="{BB962C8B-B14F-4D97-AF65-F5344CB8AC3E}">
        <p14:creationId xmlns:p14="http://schemas.microsoft.com/office/powerpoint/2010/main" val="1740787746"/>
      </p:ext>
    </p:extLst>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p:cNvSpPr>
          <p:nvPr/>
        </p:nvSpPr>
        <p:spPr bwMode="auto">
          <a:xfrm>
            <a:off x="2006600" y="-228600"/>
            <a:ext cx="7899400" cy="161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pPr>
              <a:lnSpc>
                <a:spcPct val="80000"/>
              </a:lnSpc>
              <a:defRPr/>
            </a:pPr>
            <a:endParaRPr lang="en-US" sz="6000" dirty="0">
              <a:solidFill>
                <a:srgbClr val="AB220F"/>
              </a:solidFill>
              <a:effectLst>
                <a:outerShdw blurRad="38100" dist="38100" dir="2700000" algn="tl">
                  <a:srgbClr val="C0C0C0"/>
                </a:outerShdw>
              </a:effectLst>
              <a:latin typeface="Copperplate Gothic Bold" charset="0"/>
              <a:ea typeface="Copperplate Gothic Bold" charset="0"/>
              <a:cs typeface="Copperplate Gothic Bold" charset="0"/>
              <a:sym typeface="Copperplate Gothic Bold" charset="0"/>
            </a:endParaRPr>
          </a:p>
        </p:txBody>
      </p:sp>
      <p:sp>
        <p:nvSpPr>
          <p:cNvPr id="13" name="Title 12"/>
          <p:cNvSpPr>
            <a:spLocks noGrp="1"/>
          </p:cNvSpPr>
          <p:nvPr>
            <p:ph type="title"/>
          </p:nvPr>
        </p:nvSpPr>
        <p:spPr/>
        <p:txBody>
          <a:bodyPr/>
          <a:lstStyle/>
          <a:p>
            <a:r>
              <a:rPr lang="en-US" altLang="en-US" dirty="0"/>
              <a:t>Latent Heat of Fusion</a:t>
            </a:r>
            <a:endParaRPr lang="en-US" dirty="0"/>
          </a:p>
        </p:txBody>
      </p:sp>
      <p:pic>
        <p:nvPicPr>
          <p:cNvPr id="5" name="Picture 3" descr="HT, LH of Fusion"/>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88494" y="1253192"/>
            <a:ext cx="6183906" cy="29378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838200" y="4309408"/>
            <a:ext cx="7848600" cy="1938992"/>
          </a:xfrm>
          <a:prstGeom prst="rect">
            <a:avLst/>
          </a:prstGeom>
        </p:spPr>
        <p:txBody>
          <a:bodyPr wrap="square">
            <a:spAutoFit/>
          </a:bodyPr>
          <a:lstStyle/>
          <a:p>
            <a:pPr>
              <a:spcBef>
                <a:spcPct val="50000"/>
              </a:spcBef>
            </a:pPr>
            <a:r>
              <a:rPr lang="en-US" altLang="en-US" sz="2400" dirty="0"/>
              <a:t>144 BTUs are required to melt one pound of ice. There will be no temperature increase, just a change of state from ice to water. Although this change of state in not used in vehicle temperature control, it is used to cool ice chests..</a:t>
            </a:r>
          </a:p>
        </p:txBody>
      </p:sp>
    </p:spTree>
    <p:extLst>
      <p:ext uri="{BB962C8B-B14F-4D97-AF65-F5344CB8AC3E}">
        <p14:creationId xmlns:p14="http://schemas.microsoft.com/office/powerpoint/2010/main" val="1740787746"/>
      </p:ext>
    </p:extLst>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p:cNvSpPr>
          <p:nvPr/>
        </p:nvSpPr>
        <p:spPr bwMode="auto">
          <a:xfrm>
            <a:off x="2006600" y="-228600"/>
            <a:ext cx="7899400" cy="161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pPr>
              <a:lnSpc>
                <a:spcPct val="80000"/>
              </a:lnSpc>
              <a:defRPr/>
            </a:pPr>
            <a:endParaRPr lang="en-US" sz="6000" dirty="0">
              <a:solidFill>
                <a:srgbClr val="AB220F"/>
              </a:solidFill>
              <a:effectLst>
                <a:outerShdw blurRad="38100" dist="38100" dir="2700000" algn="tl">
                  <a:srgbClr val="C0C0C0"/>
                </a:outerShdw>
              </a:effectLst>
              <a:latin typeface="Copperplate Gothic Bold" charset="0"/>
              <a:ea typeface="Copperplate Gothic Bold" charset="0"/>
              <a:cs typeface="Copperplate Gothic Bold" charset="0"/>
              <a:sym typeface="Copperplate Gothic Bold" charset="0"/>
            </a:endParaRPr>
          </a:p>
        </p:txBody>
      </p:sp>
      <p:sp>
        <p:nvSpPr>
          <p:cNvPr id="13" name="Title 12"/>
          <p:cNvSpPr>
            <a:spLocks noGrp="1"/>
          </p:cNvSpPr>
          <p:nvPr>
            <p:ph type="title"/>
          </p:nvPr>
        </p:nvSpPr>
        <p:spPr/>
        <p:txBody>
          <a:bodyPr/>
          <a:lstStyle/>
          <a:p>
            <a:r>
              <a:rPr lang="en-US" altLang="en-US" dirty="0"/>
              <a:t>Latent Heat of </a:t>
            </a:r>
            <a:br>
              <a:rPr lang="en-US" altLang="en-US" dirty="0"/>
            </a:br>
            <a:r>
              <a:rPr lang="en-US" altLang="en-US" dirty="0"/>
              <a:t>Evaporation &amp; Condensation</a:t>
            </a:r>
            <a:endParaRPr lang="en-US" dirty="0"/>
          </a:p>
        </p:txBody>
      </p:sp>
      <p:pic>
        <p:nvPicPr>
          <p:cNvPr id="5" name="Picture 3" descr="HT, L H of 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120900" y="1219200"/>
            <a:ext cx="5118100" cy="29768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838200" y="4233208"/>
            <a:ext cx="8153400" cy="1938992"/>
          </a:xfrm>
          <a:prstGeom prst="rect">
            <a:avLst/>
          </a:prstGeom>
        </p:spPr>
        <p:txBody>
          <a:bodyPr wrap="square">
            <a:spAutoFit/>
          </a:bodyPr>
          <a:lstStyle/>
          <a:p>
            <a:pPr>
              <a:spcBef>
                <a:spcPct val="50000"/>
              </a:spcBef>
            </a:pPr>
            <a:r>
              <a:rPr lang="en-US" altLang="en-US" sz="2400" dirty="0"/>
              <a:t>A rather large amount of heat, 970 BTUs, is required to change one pound of water into one pound of steam with no temperature increase. This change of state is used as the refrigerant boils when it enters the evaporator and condenses when it passes through the vehicle’s condenser.</a:t>
            </a:r>
          </a:p>
        </p:txBody>
      </p:sp>
    </p:spTree>
    <p:extLst>
      <p:ext uri="{BB962C8B-B14F-4D97-AF65-F5344CB8AC3E}">
        <p14:creationId xmlns:p14="http://schemas.microsoft.com/office/powerpoint/2010/main" val="1740787746"/>
      </p:ext>
    </p:extLst>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p:cNvSpPr>
          <p:nvPr/>
        </p:nvSpPr>
        <p:spPr bwMode="auto">
          <a:xfrm>
            <a:off x="2006600" y="-228600"/>
            <a:ext cx="7899400" cy="161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pPr>
              <a:lnSpc>
                <a:spcPct val="80000"/>
              </a:lnSpc>
              <a:defRPr/>
            </a:pPr>
            <a:endParaRPr lang="en-US" sz="6000" dirty="0">
              <a:solidFill>
                <a:srgbClr val="AB220F"/>
              </a:solidFill>
              <a:effectLst>
                <a:outerShdw blurRad="38100" dist="38100" dir="2700000" algn="tl">
                  <a:srgbClr val="C0C0C0"/>
                </a:outerShdw>
              </a:effectLst>
              <a:latin typeface="Copperplate Gothic Bold" charset="0"/>
              <a:ea typeface="Copperplate Gothic Bold" charset="0"/>
              <a:cs typeface="Copperplate Gothic Bold" charset="0"/>
              <a:sym typeface="Copperplate Gothic Bold" charset="0"/>
            </a:endParaRPr>
          </a:p>
        </p:txBody>
      </p:sp>
      <p:sp>
        <p:nvSpPr>
          <p:cNvPr id="13" name="Title 12"/>
          <p:cNvSpPr>
            <a:spLocks noGrp="1"/>
          </p:cNvSpPr>
          <p:nvPr>
            <p:ph type="title"/>
          </p:nvPr>
        </p:nvSpPr>
        <p:spPr/>
        <p:txBody>
          <a:bodyPr/>
          <a:lstStyle/>
          <a:p>
            <a:r>
              <a:rPr lang="en-US" altLang="en-US" dirty="0"/>
              <a:t>Boiling Points and Pressure</a:t>
            </a:r>
            <a:endParaRPr lang="en-US" dirty="0"/>
          </a:p>
        </p:txBody>
      </p:sp>
      <p:sp>
        <p:nvSpPr>
          <p:cNvPr id="14" name="Content Placeholder 13"/>
          <p:cNvSpPr>
            <a:spLocks noGrp="1"/>
          </p:cNvSpPr>
          <p:nvPr>
            <p:ph idx="1"/>
          </p:nvPr>
        </p:nvSpPr>
        <p:spPr>
          <a:xfrm>
            <a:off x="914400" y="4267200"/>
            <a:ext cx="8001000" cy="1728953"/>
          </a:xfrm>
        </p:spPr>
        <p:txBody>
          <a:bodyPr/>
          <a:lstStyle/>
          <a:p>
            <a:pPr marL="0" indent="0">
              <a:buNone/>
            </a:pPr>
            <a:r>
              <a:rPr lang="en-US" altLang="en-US" sz="2400" dirty="0"/>
              <a:t>The boiling point will increase if we raise the pressure on a liquid. In this case, the boiling point will increase about 3</a:t>
            </a:r>
            <a:r>
              <a:rPr lang="en-US" altLang="en-US" sz="2400" baseline="30000" dirty="0"/>
              <a:t>o</a:t>
            </a:r>
            <a:r>
              <a:rPr lang="en-US" altLang="en-US" sz="2400" dirty="0"/>
              <a:t> F for each psi. A 10 pound pressure will increase the boiling point about 3 X 10 or 30</a:t>
            </a:r>
            <a:r>
              <a:rPr lang="en-US" altLang="en-US" sz="2400" baseline="30000" dirty="0"/>
              <a:t>o</a:t>
            </a:r>
            <a:r>
              <a:rPr lang="en-US" altLang="en-US" sz="2400" dirty="0"/>
              <a:t> F. The condensing point of a vapor is the same as the boiling point</a:t>
            </a:r>
            <a:r>
              <a:rPr lang="en-US" altLang="en-US" dirty="0"/>
              <a:t>.</a:t>
            </a:r>
          </a:p>
          <a:p>
            <a:pPr marL="0" indent="0">
              <a:buNone/>
            </a:pPr>
            <a:endParaRPr lang="en-US" dirty="0"/>
          </a:p>
        </p:txBody>
      </p:sp>
      <p:pic>
        <p:nvPicPr>
          <p:cNvPr id="5" name="Picture 6" descr="Press, 2"/>
          <p:cNvPicPr>
            <a:picLocks noChangeAspect="1" noChangeArrowheads="1"/>
          </p:cNvPicPr>
          <p:nvPr/>
        </p:nvPicPr>
        <p:blipFill>
          <a:blip r:embed="rId2">
            <a:extLst>
              <a:ext uri="{28A0092B-C50C-407E-A947-70E740481C1C}">
                <a14:useLocalDpi xmlns:a14="http://schemas.microsoft.com/office/drawing/2010/main" val="0"/>
              </a:ext>
            </a:extLst>
          </a:blip>
          <a:srcRect t="7043"/>
          <a:stretch>
            <a:fillRect/>
          </a:stretch>
        </p:blipFill>
        <p:spPr bwMode="auto">
          <a:xfrm>
            <a:off x="2660650" y="1524000"/>
            <a:ext cx="4273550" cy="2617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685800" y="2743200"/>
            <a:ext cx="1974850" cy="646331"/>
          </a:xfrm>
          <a:prstGeom prst="rect">
            <a:avLst/>
          </a:prstGeom>
        </p:spPr>
        <p:txBody>
          <a:bodyPr wrap="square">
            <a:spAutoFit/>
          </a:bodyPr>
          <a:lstStyle/>
          <a:p>
            <a:pPr>
              <a:spcBef>
                <a:spcPct val="50000"/>
              </a:spcBef>
            </a:pPr>
            <a:r>
              <a:rPr lang="en-US" altLang="en-US" b="1" dirty="0"/>
              <a:t>Boiling Point = 242 Degrees F</a:t>
            </a:r>
          </a:p>
        </p:txBody>
      </p:sp>
      <p:sp>
        <p:nvSpPr>
          <p:cNvPr id="3" name="Rectangle 2"/>
          <p:cNvSpPr/>
          <p:nvPr/>
        </p:nvSpPr>
        <p:spPr>
          <a:xfrm>
            <a:off x="7019244" y="2743200"/>
            <a:ext cx="2048556" cy="646331"/>
          </a:xfrm>
          <a:prstGeom prst="rect">
            <a:avLst/>
          </a:prstGeom>
        </p:spPr>
        <p:txBody>
          <a:bodyPr wrap="square">
            <a:spAutoFit/>
          </a:bodyPr>
          <a:lstStyle/>
          <a:p>
            <a:pPr>
              <a:spcBef>
                <a:spcPct val="50000"/>
              </a:spcBef>
            </a:pPr>
            <a:r>
              <a:rPr lang="en-US" altLang="en-US" b="1" dirty="0"/>
              <a:t>Boiling Point = 212 Degrees F</a:t>
            </a:r>
          </a:p>
        </p:txBody>
      </p:sp>
    </p:spTree>
    <p:extLst>
      <p:ext uri="{BB962C8B-B14F-4D97-AF65-F5344CB8AC3E}">
        <p14:creationId xmlns:p14="http://schemas.microsoft.com/office/powerpoint/2010/main" val="1740787746"/>
      </p:ext>
    </p:extLst>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p:cNvSpPr>
          <p:nvPr/>
        </p:nvSpPr>
        <p:spPr bwMode="auto">
          <a:xfrm>
            <a:off x="2006600" y="-228600"/>
            <a:ext cx="7899400" cy="161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pPr>
              <a:lnSpc>
                <a:spcPct val="80000"/>
              </a:lnSpc>
              <a:defRPr/>
            </a:pPr>
            <a:endParaRPr lang="en-US" sz="6000" dirty="0">
              <a:solidFill>
                <a:srgbClr val="AB220F"/>
              </a:solidFill>
              <a:effectLst>
                <a:outerShdw blurRad="38100" dist="38100" dir="2700000" algn="tl">
                  <a:srgbClr val="C0C0C0"/>
                </a:outerShdw>
              </a:effectLst>
              <a:latin typeface="Copperplate Gothic Bold" charset="0"/>
              <a:ea typeface="Copperplate Gothic Bold" charset="0"/>
              <a:cs typeface="Copperplate Gothic Bold" charset="0"/>
              <a:sym typeface="Copperplate Gothic Bold" charset="0"/>
            </a:endParaRPr>
          </a:p>
        </p:txBody>
      </p:sp>
      <p:sp>
        <p:nvSpPr>
          <p:cNvPr id="13" name="Title 12"/>
          <p:cNvSpPr>
            <a:spLocks noGrp="1"/>
          </p:cNvSpPr>
          <p:nvPr>
            <p:ph type="title"/>
          </p:nvPr>
        </p:nvSpPr>
        <p:spPr/>
        <p:txBody>
          <a:bodyPr/>
          <a:lstStyle/>
          <a:p>
            <a:r>
              <a:rPr lang="en-US" altLang="en-US" dirty="0"/>
              <a:t>Refrigerant</a:t>
            </a:r>
            <a:endParaRPr lang="en-US" dirty="0"/>
          </a:p>
        </p:txBody>
      </p:sp>
      <p:pic>
        <p:nvPicPr>
          <p:cNvPr id="5" name="Picture 3" descr="Powpt, R-134"/>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332161" y="1447800"/>
            <a:ext cx="3694410" cy="396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685800" y="2046744"/>
            <a:ext cx="4572000" cy="2677656"/>
          </a:xfrm>
          <a:prstGeom prst="rect">
            <a:avLst/>
          </a:prstGeom>
        </p:spPr>
        <p:txBody>
          <a:bodyPr>
            <a:spAutoFit/>
          </a:bodyPr>
          <a:lstStyle/>
          <a:p>
            <a:pPr>
              <a:spcBef>
                <a:spcPct val="50000"/>
              </a:spcBef>
            </a:pPr>
            <a:r>
              <a:rPr lang="en-US" altLang="en-US" sz="2400" dirty="0"/>
              <a:t>R-134a has a boiling point of </a:t>
            </a:r>
            <a:r>
              <a:rPr lang="en-US" altLang="en-US" sz="2400" dirty="0" smtClean="0"/>
              <a:t>   –</a:t>
            </a:r>
            <a:r>
              <a:rPr lang="en-US" altLang="en-US" sz="2400" dirty="0"/>
              <a:t>15</a:t>
            </a:r>
            <a:r>
              <a:rPr lang="en-US" altLang="en-US" sz="2400" baseline="30000" dirty="0"/>
              <a:t>o</a:t>
            </a:r>
            <a:r>
              <a:rPr lang="en-US" altLang="en-US" sz="2400" dirty="0"/>
              <a:t> F. When it is released into the vehicle’s evaporator it will boil immediately and absorb heat. R-134a will absorb almost 78 BTUs of heat for each pound that boils.</a:t>
            </a:r>
          </a:p>
        </p:txBody>
      </p:sp>
    </p:spTree>
    <p:extLst>
      <p:ext uri="{BB962C8B-B14F-4D97-AF65-F5344CB8AC3E}">
        <p14:creationId xmlns:p14="http://schemas.microsoft.com/office/powerpoint/2010/main" val="1740787746"/>
      </p:ext>
    </p:extLst>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p:cNvSpPr>
          <p:nvPr/>
        </p:nvSpPr>
        <p:spPr bwMode="auto">
          <a:xfrm>
            <a:off x="2006600" y="-228600"/>
            <a:ext cx="7899400" cy="161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nchor="ctr"/>
          <a:lstStyle/>
          <a:p>
            <a:pPr>
              <a:lnSpc>
                <a:spcPct val="80000"/>
              </a:lnSpc>
              <a:defRPr/>
            </a:pPr>
            <a:endParaRPr lang="en-US" sz="6000" dirty="0">
              <a:solidFill>
                <a:srgbClr val="AB220F"/>
              </a:solidFill>
              <a:effectLst>
                <a:outerShdw blurRad="38100" dist="38100" dir="2700000" algn="tl">
                  <a:srgbClr val="C0C0C0"/>
                </a:outerShdw>
              </a:effectLst>
              <a:latin typeface="Copperplate Gothic Bold" charset="0"/>
              <a:ea typeface="Copperplate Gothic Bold" charset="0"/>
              <a:cs typeface="Copperplate Gothic Bold" charset="0"/>
              <a:sym typeface="Copperplate Gothic Bold" charset="0"/>
            </a:endParaRPr>
          </a:p>
        </p:txBody>
      </p:sp>
      <p:sp>
        <p:nvSpPr>
          <p:cNvPr id="2" name="Content Placeholder 1"/>
          <p:cNvSpPr>
            <a:spLocks noGrp="1"/>
          </p:cNvSpPr>
          <p:nvPr>
            <p:ph idx="1"/>
          </p:nvPr>
        </p:nvSpPr>
        <p:spPr>
          <a:xfrm>
            <a:off x="2819400" y="2590800"/>
            <a:ext cx="4648200" cy="1371600"/>
          </a:xfrm>
        </p:spPr>
        <p:txBody>
          <a:bodyPr/>
          <a:lstStyle/>
          <a:p>
            <a:pPr marL="0" indent="0">
              <a:buNone/>
            </a:pPr>
            <a:r>
              <a:rPr lang="en-US" sz="7200" dirty="0" smtClean="0"/>
              <a:t>The End</a:t>
            </a:r>
            <a:endParaRPr lang="en-US" sz="7200" dirty="0"/>
          </a:p>
        </p:txBody>
      </p:sp>
    </p:spTree>
    <p:extLst>
      <p:ext uri="{BB962C8B-B14F-4D97-AF65-F5344CB8AC3E}">
        <p14:creationId xmlns:p14="http://schemas.microsoft.com/office/powerpoint/2010/main" val="1740787746"/>
      </p:ext>
    </p:extLst>
  </p:cSld>
  <p:clrMapOvr>
    <a:masterClrMapping/>
  </p:clrMapOvr>
  <p:transition/>
  <p:timing>
    <p:tnLst>
      <p:par>
        <p:cTn id="1" dur="indefinite" restart="never" nodeType="tmRoot"/>
      </p:par>
    </p:tnLst>
  </p:timing>
</p:sld>
</file>

<file path=ppt/theme/theme1.xml><?xml version="1.0" encoding="utf-8"?>
<a:theme xmlns:a="http://schemas.openxmlformats.org/drawingml/2006/main" name="Bobcat">
  <a:themeElements>
    <a:clrScheme name="orange_side_template_2006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range_side_template_2006">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2857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600" b="0" i="0" u="none" strike="noStrike" cap="none" normalizeH="0" baseline="0" smtClean="0">
            <a:ln>
              <a:noFill/>
            </a:ln>
            <a:solidFill>
              <a:schemeClr val="accent1"/>
            </a:solidFill>
            <a:effectLst/>
            <a:latin typeface="Arial" charset="0"/>
          </a:defRPr>
        </a:defPPr>
      </a:lstStyle>
    </a:spDef>
    <a:lnDef>
      <a:spPr bwMode="auto">
        <a:xfrm>
          <a:off x="0" y="0"/>
          <a:ext cx="1" cy="1"/>
        </a:xfrm>
        <a:custGeom>
          <a:avLst/>
          <a:gdLst/>
          <a:ahLst/>
          <a:cxnLst/>
          <a:rect l="0" t="0" r="0" b="0"/>
          <a:pathLst/>
        </a:custGeom>
        <a:solidFill>
          <a:schemeClr val="accent1"/>
        </a:solidFill>
        <a:ln w="2857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600" b="0" i="0" u="none" strike="noStrike" cap="none" normalizeH="0" baseline="0" smtClean="0">
            <a:ln>
              <a:noFill/>
            </a:ln>
            <a:solidFill>
              <a:schemeClr val="accent1"/>
            </a:solidFill>
            <a:effectLst/>
            <a:latin typeface="Arial" charset="0"/>
          </a:defRPr>
        </a:defPPr>
      </a:lstStyle>
    </a:lnDef>
  </a:objectDefaults>
  <a:extraClrSchemeLst>
    <a:extraClrScheme>
      <a:clrScheme name="orange_side_template_2006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range_side_template_2006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range_side_template_2006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range_side_template_2006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range_side_template_2006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range_side_template_2006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range_side_template_2006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AA5A8AEA7BEFD429155B4F4F35992AF" ma:contentTypeVersion="12" ma:contentTypeDescription="Create a new document." ma:contentTypeScope="" ma:versionID="d31a8a9230b862674c0e6f6f9bc34b39">
  <xsd:schema xmlns:xsd="http://www.w3.org/2001/XMLSchema" xmlns:xs="http://www.w3.org/2001/XMLSchema" xmlns:p="http://schemas.microsoft.com/office/2006/metadata/properties" xmlns:ns2="2f2826e4-9515-451e-9b2a-6dcc51677b4f" xmlns:ns3="92993479-0310-490b-83e9-ee080835902c" targetNamespace="http://schemas.microsoft.com/office/2006/metadata/properties" ma:root="true" ma:fieldsID="f3898e7bb7d8730441ac26dbb9dae5dc" ns2:_="" ns3:_="">
    <xsd:import namespace="2f2826e4-9515-451e-9b2a-6dcc51677b4f"/>
    <xsd:import namespace="92993479-0310-490b-83e9-ee080835902c"/>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ObjectDetectorVersions" minOccurs="0"/>
                <xsd:element ref="ns2:MediaServiceOCR" minOccurs="0"/>
                <xsd:element ref="ns2:MediaServiceGenerationTime" minOccurs="0"/>
                <xsd:element ref="ns2:MediaServiceEventHashCode" minOccurs="0"/>
                <xsd:element ref="ns2:MediaLengthInSeconds" minOccurs="0"/>
                <xsd:element ref="ns2:MediaServiceSearchPropertie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f2826e4-9515-451e-9b2a-6dcc51677b4f"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Image Tags" ma:readOnly="false" ma:fieldId="{5cf76f15-5ced-4ddc-b409-7134ff3c332f}" ma:taxonomyMulti="true" ma:sspId="eb7c6bcd-9d99-4516-a920-77b75fce0390"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SearchProperties" ma:index="18" nillable="true" ma:displayName="MediaServiceSearchProperties" ma:hidden="true" ma:internalName="MediaServiceSearchProperties" ma:readOnly="true">
      <xsd:simpleType>
        <xsd:restriction base="dms:Note"/>
      </xsd:simpleType>
    </xsd:element>
    <xsd:element name="MediaServiceDateTaken" ma:index="19"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2993479-0310-490b-83e9-ee080835902c"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4a0189bf-8988-403b-9066-b1fd957158d1}" ma:internalName="TaxCatchAll" ma:showField="CatchAllData" ma:web="92993479-0310-490b-83e9-ee080835902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92993479-0310-490b-83e9-ee080835902c" xsi:nil="true"/>
    <MediaLengthInSeconds xmlns="2f2826e4-9515-451e-9b2a-6dcc51677b4f" xsi:nil="true"/>
    <lcf76f155ced4ddcb4097134ff3c332f xmlns="2f2826e4-9515-451e-9b2a-6dcc51677b4f">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ECCCA42E-618C-4E3C-BD59-1A7F136622EF}"/>
</file>

<file path=customXml/itemProps2.xml><?xml version="1.0" encoding="utf-8"?>
<ds:datastoreItem xmlns:ds="http://schemas.openxmlformats.org/officeDocument/2006/customXml" ds:itemID="{D547361C-79E6-4379-A102-A153413DB95C}"/>
</file>

<file path=customXml/itemProps3.xml><?xml version="1.0" encoding="utf-8"?>
<ds:datastoreItem xmlns:ds="http://schemas.openxmlformats.org/officeDocument/2006/customXml" ds:itemID="{1A40B011-F080-4A65-8AD4-46F3B92F5E0D}"/>
</file>

<file path=docProps/app.xml><?xml version="1.0" encoding="utf-8"?>
<Properties xmlns="http://schemas.openxmlformats.org/officeDocument/2006/extended-properties" xmlns:vt="http://schemas.openxmlformats.org/officeDocument/2006/docPropsVTypes">
  <Template>Bobcat</Template>
  <TotalTime>1223</TotalTime>
  <Words>1000</Words>
  <Application>Microsoft Office PowerPoint</Application>
  <PresentationFormat>On-screen Show (4:3)</PresentationFormat>
  <Paragraphs>65</Paragraphs>
  <Slides>20</Slides>
  <Notes>3</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Bobcat</vt:lpstr>
      <vt:lpstr>Fundamentals of  Heat Transfer </vt:lpstr>
      <vt:lpstr>Heat Transfer</vt:lpstr>
      <vt:lpstr>Heat Is Energy</vt:lpstr>
      <vt:lpstr>Heat Measurements</vt:lpstr>
      <vt:lpstr>Heat Measurements - Temperature</vt:lpstr>
      <vt:lpstr>Heat Measurements - Quantity</vt:lpstr>
      <vt:lpstr>Intensity and Quantity</vt:lpstr>
      <vt:lpstr>Heat Movement</vt:lpstr>
      <vt:lpstr>Heat Transfer Rate</vt:lpstr>
      <vt:lpstr>Heat Conduction</vt:lpstr>
      <vt:lpstr>Convection </vt:lpstr>
      <vt:lpstr>Radiation</vt:lpstr>
      <vt:lpstr>Adding Heat</vt:lpstr>
      <vt:lpstr>States of Matter</vt:lpstr>
      <vt:lpstr>Sensible and Latent Heat</vt:lpstr>
      <vt:lpstr>Latent Heat of Fusion</vt:lpstr>
      <vt:lpstr>Latent Heat of  Evaporation &amp; Condensation</vt:lpstr>
      <vt:lpstr>Boiling Points and Pressure</vt:lpstr>
      <vt:lpstr>Refrigerant</vt:lpstr>
      <vt:lpstr>PowerPoint Presentation</vt:lpstr>
    </vt:vector>
  </TitlesOfParts>
  <Company>Edison Community College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TOSHIBA USER</dc:creator>
  <cp:keywords>21;#HVAC|cd53b3d5-bb39-40b6-8ced-538a96eb3a82</cp:keywords>
  <cp:lastModifiedBy>Brian McFarland</cp:lastModifiedBy>
  <cp:revision>104</cp:revision>
  <dcterms:created xsi:type="dcterms:W3CDTF">2011-01-08T14:26:22Z</dcterms:created>
  <dcterms:modified xsi:type="dcterms:W3CDTF">2018-06-10T14:41:53Z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0x010100BAA5A8AEA7BEFD429155B4F4F35992AF</vt:lpwstr>
  </property>
  <property fmtid="{D5CDD505-2E9C-101B-9397-08002B2CF9AE}" pid="3" name="Order">
    <vt:r8>907200</vt:r8>
  </property>
  <property fmtid="{D5CDD505-2E9C-101B-9397-08002B2CF9AE}" pid="4" name="_ColorTag">
    <vt:lpwstr/>
  </property>
  <property fmtid="{D5CDD505-2E9C-101B-9397-08002B2CF9AE}" pid="5" name="_ExtendedDescription">
    <vt:lpwstr/>
  </property>
  <property fmtid="{D5CDD505-2E9C-101B-9397-08002B2CF9AE}" pid="6" name="TriggerFlowInfo">
    <vt:lpwstr/>
  </property>
  <property fmtid="{D5CDD505-2E9C-101B-9397-08002B2CF9AE}" pid="7" name="_SourceUrl">
    <vt:lpwstr/>
  </property>
  <property fmtid="{D5CDD505-2E9C-101B-9397-08002B2CF9AE}" pid="8" name="_SharedFileIndex">
    <vt:lpwstr/>
  </property>
  <property fmtid="{D5CDD505-2E9C-101B-9397-08002B2CF9AE}" pid="9" name="_ColorHex">
    <vt:lpwstr/>
  </property>
  <property fmtid="{D5CDD505-2E9C-101B-9397-08002B2CF9AE}" pid="10" name="_Emoji">
    <vt:lpwstr/>
  </property>
  <property fmtid="{D5CDD505-2E9C-101B-9397-08002B2CF9AE}" pid="11" name="ComplianceAssetId">
    <vt:lpwstr/>
  </property>
  <property fmtid="{D5CDD505-2E9C-101B-9397-08002B2CF9AE}" pid="12" name="MediaServiceImageTags">
    <vt:lpwstr/>
  </property>
  <property fmtid="{D5CDD505-2E9C-101B-9397-08002B2CF9AE}" pid="13" name="xd_ProgID">
    <vt:lpwstr/>
  </property>
  <property fmtid="{D5CDD505-2E9C-101B-9397-08002B2CF9AE}" pid="14" name="TemplateUrl">
    <vt:lpwstr/>
  </property>
  <property fmtid="{D5CDD505-2E9C-101B-9397-08002B2CF9AE}" pid="15" name="c96017a53ddc4930b18d313f6151eb39">
    <vt:lpwstr>HVAC|cd53b3d5-bb39-40b6-8ced-538a96eb3a82</vt:lpwstr>
  </property>
  <property fmtid="{D5CDD505-2E9C-101B-9397-08002B2CF9AE}" pid="16" name="xd_Signature">
    <vt:bool>false</vt:bool>
  </property>
</Properties>
</file>